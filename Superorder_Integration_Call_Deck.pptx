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10287000" cx="18288000"/>
  <p:notesSz cx="10287000" cy="18288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11" Type="http://schemas.openxmlformats.org/officeDocument/2006/relationships/slide" Target="slides/slide7.xml"/><Relationship Id="rId22" Type="http://schemas.openxmlformats.org/officeDocument/2006/relationships/font" Target="fonts/Inter-bold.fntdata"/><Relationship Id="rId10" Type="http://schemas.openxmlformats.org/officeDocument/2006/relationships/slide" Target="slides/slide6.xml"/><Relationship Id="rId21" Type="http://schemas.openxmlformats.org/officeDocument/2006/relationships/font" Target="fonts/Inter-regular.fntdata"/><Relationship Id="rId13" Type="http://schemas.openxmlformats.org/officeDocument/2006/relationships/slide" Target="slides/slide9.xml"/><Relationship Id="rId24" Type="http://schemas.openxmlformats.org/officeDocument/2006/relationships/font" Target="fonts/Inter-boldItalic.fntdata"/><Relationship Id="rId12" Type="http://schemas.openxmlformats.org/officeDocument/2006/relationships/slide" Target="slides/slide8.xml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nterSemiBold-italic.fntdata"/><Relationship Id="rId6" Type="http://schemas.openxmlformats.org/officeDocument/2006/relationships/slide" Target="slides/slide2.xml"/><Relationship Id="rId18" Type="http://schemas.openxmlformats.org/officeDocument/2006/relationships/font" Target="fonts/Inter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41f52fbf56_0_281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g341f52fbf56_0_2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2" name="Google Shape;32;g341f52fbf56_0_281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41f52fbf56_0_240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g341f52fbf56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3" name="Google Shape;43;g341f52fbf56_0_240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45e5b1ab4_0_0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745e5b1ab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1" name="Google Shape;101;g3745e5b1ab4_0_0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5b96f0626_0_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g345b96f0626_0_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45b96f0626_0_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1f52fbf56_0_186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41f52fbf56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74" name="Google Shape;174;g341f52fbf56_0_186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45b96f0626_0_0:notes"/>
          <p:cNvSpPr/>
          <p:nvPr>
            <p:ph idx="2" type="sldImg"/>
          </p:nvPr>
        </p:nvSpPr>
        <p:spPr>
          <a:xfrm>
            <a:off x="1714825" y="1371600"/>
            <a:ext cx="68583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45b96f0626_0_0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41f52fbf56_0_83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41f52fbf56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54" name="Google Shape;254;g341f52fbf56_0_83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401d022361_0_0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401d02236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67" name="Google Shape;267;g3401d022361_0_0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466d901ab9_0_2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466d901ab9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80" name="Google Shape;280;g3466d901ab9_0_2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41f52fbf56_0_0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41f52fbf5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93" name="Google Shape;293;g341f52fbf56_0_0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41f52fbf56_0_38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41f52fbf56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33" name="Google Shape;333;g341f52fbf56_0_38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41f52fbf56_0_62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41f52fbf56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61" name="Google Shape;361;g341f52fbf56_0_62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 Slide">
  <p:cSld name="Default Content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/>
        </p:nvSpPr>
        <p:spPr>
          <a:xfrm>
            <a:off x="13364849" y="9772650"/>
            <a:ext cx="4408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2000">
                <a:solidFill>
                  <a:srgbClr val="516662"/>
                </a:solidFill>
              </a:rPr>
              <a:t>Superorder</a:t>
            </a:r>
            <a:r>
              <a:rPr b="0" i="0" lang="en-US" sz="2000" u="none" cap="none" strike="noStrike">
                <a:solidFill>
                  <a:srgbClr val="516662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fld id="{00000000-1234-1234-1234-123412341234}" type="slidenum">
              <a:rPr b="0" i="0" lang="en-US" sz="2000" u="none" cap="none" strike="noStrike">
                <a:solidFill>
                  <a:srgbClr val="51666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5166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"/>
          <p:cNvSpPr/>
          <p:nvPr/>
        </p:nvSpPr>
        <p:spPr>
          <a:xfrm>
            <a:off x="512100" y="1600500"/>
            <a:ext cx="17263800" cy="3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3"/>
          <p:cNvSpPr txBox="1"/>
          <p:nvPr>
            <p:ph type="title"/>
          </p:nvPr>
        </p:nvSpPr>
        <p:spPr>
          <a:xfrm>
            <a:off x="514350" y="342900"/>
            <a:ext cx="17261400" cy="12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512100" y="1637100"/>
            <a:ext cx="40980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pos="323">
          <p15:clr>
            <a:srgbClr val="FBAE40"/>
          </p15:clr>
        </p15:guide>
        <p15:guide id="4" pos="11196">
          <p15:clr>
            <a:srgbClr val="FBAE40"/>
          </p15:clr>
        </p15:guide>
        <p15:guide id="5" orient="horz" pos="1273">
          <p15:clr>
            <a:srgbClr val="FBAE40"/>
          </p15:clr>
        </p15:guide>
        <p15:guide id="6" orient="horz" pos="61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(Top &amp; Bottom)">
  <p:cSld name="TITLE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4"/>
          <p:cNvGrpSpPr/>
          <p:nvPr/>
        </p:nvGrpSpPr>
        <p:grpSpPr>
          <a:xfrm>
            <a:off x="-2893127" y="8821183"/>
            <a:ext cx="21181127" cy="1465820"/>
            <a:chOff x="5" y="3971066"/>
            <a:chExt cx="8472451" cy="586328"/>
          </a:xfrm>
        </p:grpSpPr>
        <p:grpSp>
          <p:nvGrpSpPr>
            <p:cNvPr id="16" name="Google Shape;16;p4"/>
            <p:cNvGrpSpPr/>
            <p:nvPr/>
          </p:nvGrpSpPr>
          <p:grpSpPr>
            <a:xfrm>
              <a:off x="5" y="3971066"/>
              <a:ext cx="4561801" cy="586328"/>
              <a:chOff x="1314450" y="3473958"/>
              <a:chExt cx="16280517" cy="2097024"/>
            </a:xfrm>
          </p:grpSpPr>
          <p:pic>
            <p:nvPicPr>
              <p:cNvPr id="17" name="Google Shape;17;p4"/>
              <p:cNvPicPr preferRelativeResize="0"/>
              <p:nvPr/>
            </p:nvPicPr>
            <p:blipFill rotWithShape="1">
              <a:blip r:embed="rId2">
                <a:alphaModFix/>
              </a:blip>
              <a:srcRect b="64444" l="0" r="0" t="0"/>
              <a:stretch/>
            </p:blipFill>
            <p:spPr>
              <a:xfrm>
                <a:off x="1314450" y="3638550"/>
                <a:ext cx="8191057" cy="1932432"/>
              </a:xfrm>
              <a:custGeom>
                <a:rect b="b" l="l" r="r" t="t"/>
                <a:pathLst>
                  <a:path extrusionOk="0" h="2438400" w="10335718">
                    <a:moveTo>
                      <a:pt x="0" y="0"/>
                    </a:moveTo>
                    <a:lnTo>
                      <a:pt x="10335718" y="0"/>
                    </a:lnTo>
                    <a:lnTo>
                      <a:pt x="10335718" y="2019300"/>
                    </a:lnTo>
                    <a:lnTo>
                      <a:pt x="9169400" y="2019300"/>
                    </a:lnTo>
                    <a:lnTo>
                      <a:pt x="91694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18" name="Google Shape;18;p4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64167"/>
              <a:stretch/>
            </p:blipFill>
            <p:spPr>
              <a:xfrm>
                <a:off x="9429750" y="3473958"/>
                <a:ext cx="8165217" cy="1941386"/>
              </a:xfrm>
              <a:custGeom>
                <a:rect b="b" l="l" r="r" t="t"/>
                <a:pathLst>
                  <a:path extrusionOk="0" h="2457450" w="10335718">
                    <a:moveTo>
                      <a:pt x="0" y="0"/>
                    </a:moveTo>
                    <a:lnTo>
                      <a:pt x="7886700" y="0"/>
                    </a:lnTo>
                    <a:lnTo>
                      <a:pt x="7886700" y="447675"/>
                    </a:lnTo>
                    <a:lnTo>
                      <a:pt x="10335718" y="447675"/>
                    </a:lnTo>
                    <a:lnTo>
                      <a:pt x="10335718" y="2457450"/>
                    </a:lnTo>
                    <a:lnTo>
                      <a:pt x="0" y="245745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</p:grpSp>
        <p:grpSp>
          <p:nvGrpSpPr>
            <p:cNvPr id="19" name="Google Shape;19;p4"/>
            <p:cNvGrpSpPr/>
            <p:nvPr/>
          </p:nvGrpSpPr>
          <p:grpSpPr>
            <a:xfrm>
              <a:off x="3910655" y="3971066"/>
              <a:ext cx="4561801" cy="586328"/>
              <a:chOff x="1314450" y="3473958"/>
              <a:chExt cx="16280517" cy="2097024"/>
            </a:xfrm>
          </p:grpSpPr>
          <p:pic>
            <p:nvPicPr>
              <p:cNvPr id="20" name="Google Shape;20;p4"/>
              <p:cNvPicPr preferRelativeResize="0"/>
              <p:nvPr/>
            </p:nvPicPr>
            <p:blipFill rotWithShape="1">
              <a:blip r:embed="rId2">
                <a:alphaModFix/>
              </a:blip>
              <a:srcRect b="64444" l="0" r="0" t="0"/>
              <a:stretch/>
            </p:blipFill>
            <p:spPr>
              <a:xfrm>
                <a:off x="1314450" y="3638550"/>
                <a:ext cx="8191057" cy="1932432"/>
              </a:xfrm>
              <a:custGeom>
                <a:rect b="b" l="l" r="r" t="t"/>
                <a:pathLst>
                  <a:path extrusionOk="0" h="2438400" w="10335718">
                    <a:moveTo>
                      <a:pt x="0" y="0"/>
                    </a:moveTo>
                    <a:lnTo>
                      <a:pt x="10335718" y="0"/>
                    </a:lnTo>
                    <a:lnTo>
                      <a:pt x="10335718" y="2019300"/>
                    </a:lnTo>
                    <a:lnTo>
                      <a:pt x="9169400" y="2019300"/>
                    </a:lnTo>
                    <a:lnTo>
                      <a:pt x="91694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21" name="Google Shape;21;p4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64167"/>
              <a:stretch/>
            </p:blipFill>
            <p:spPr>
              <a:xfrm>
                <a:off x="9429750" y="3473958"/>
                <a:ext cx="8165217" cy="1941386"/>
              </a:xfrm>
              <a:custGeom>
                <a:rect b="b" l="l" r="r" t="t"/>
                <a:pathLst>
                  <a:path extrusionOk="0" h="2457450" w="10335718">
                    <a:moveTo>
                      <a:pt x="0" y="0"/>
                    </a:moveTo>
                    <a:lnTo>
                      <a:pt x="7886700" y="0"/>
                    </a:lnTo>
                    <a:lnTo>
                      <a:pt x="7886700" y="447675"/>
                    </a:lnTo>
                    <a:lnTo>
                      <a:pt x="10335718" y="447675"/>
                    </a:lnTo>
                    <a:lnTo>
                      <a:pt x="10335718" y="2457450"/>
                    </a:lnTo>
                    <a:lnTo>
                      <a:pt x="0" y="245745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</p:grpSp>
      </p:grpSp>
      <p:grpSp>
        <p:nvGrpSpPr>
          <p:cNvPr id="22" name="Google Shape;22;p4"/>
          <p:cNvGrpSpPr/>
          <p:nvPr/>
        </p:nvGrpSpPr>
        <p:grpSpPr>
          <a:xfrm>
            <a:off x="131" y="-17"/>
            <a:ext cx="11406130" cy="1465820"/>
            <a:chOff x="1314450" y="3473958"/>
            <a:chExt cx="16280517" cy="2097024"/>
          </a:xfrm>
        </p:grpSpPr>
        <p:pic>
          <p:nvPicPr>
            <p:cNvPr id="23" name="Google Shape;23;p4"/>
            <p:cNvPicPr preferRelativeResize="0"/>
            <p:nvPr/>
          </p:nvPicPr>
          <p:blipFill rotWithShape="1">
            <a:blip r:embed="rId2">
              <a:alphaModFix/>
            </a:blip>
            <a:srcRect b="64444" l="0" r="0" t="0"/>
            <a:stretch/>
          </p:blipFill>
          <p:spPr>
            <a:xfrm>
              <a:off x="1314450" y="3638550"/>
              <a:ext cx="8191057" cy="1932432"/>
            </a:xfrm>
            <a:custGeom>
              <a:rect b="b" l="l" r="r" t="t"/>
              <a:pathLst>
                <a:path extrusionOk="0" h="2438400" w="10335718">
                  <a:moveTo>
                    <a:pt x="0" y="0"/>
                  </a:moveTo>
                  <a:lnTo>
                    <a:pt x="10335718" y="0"/>
                  </a:lnTo>
                  <a:lnTo>
                    <a:pt x="10335718" y="2019300"/>
                  </a:lnTo>
                  <a:lnTo>
                    <a:pt x="9169400" y="2019300"/>
                  </a:lnTo>
                  <a:lnTo>
                    <a:pt x="9169400" y="2438400"/>
                  </a:lnTo>
                  <a:lnTo>
                    <a:pt x="0" y="243840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4" name="Google Shape;24;p4"/>
            <p:cNvPicPr preferRelativeResize="0"/>
            <p:nvPr/>
          </p:nvPicPr>
          <p:blipFill rotWithShape="1">
            <a:blip r:embed="rId2">
              <a:alphaModFix/>
            </a:blip>
            <a:srcRect b="0" l="0" r="0" t="64167"/>
            <a:stretch/>
          </p:blipFill>
          <p:spPr>
            <a:xfrm>
              <a:off x="9429750" y="3473958"/>
              <a:ext cx="8165217" cy="1941386"/>
            </a:xfrm>
            <a:custGeom>
              <a:rect b="b" l="l" r="r" t="t"/>
              <a:pathLst>
                <a:path extrusionOk="0" h="2457450" w="10335718">
                  <a:moveTo>
                    <a:pt x="0" y="0"/>
                  </a:moveTo>
                  <a:lnTo>
                    <a:pt x="7886700" y="0"/>
                  </a:lnTo>
                  <a:lnTo>
                    <a:pt x="7886700" y="447675"/>
                  </a:lnTo>
                  <a:lnTo>
                    <a:pt x="10335718" y="447675"/>
                  </a:lnTo>
                  <a:lnTo>
                    <a:pt x="10335718" y="2457450"/>
                  </a:lnTo>
                  <a:lnTo>
                    <a:pt x="0" y="245745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pic>
        <p:nvPicPr>
          <p:cNvPr id="25" name="Google Shape;25;p4"/>
          <p:cNvPicPr preferRelativeResize="0"/>
          <p:nvPr/>
        </p:nvPicPr>
        <p:blipFill rotWithShape="1">
          <a:blip r:embed="rId2">
            <a:alphaModFix/>
          </a:blip>
          <a:srcRect b="64444" l="0" r="0" t="0"/>
          <a:stretch/>
        </p:blipFill>
        <p:spPr>
          <a:xfrm>
            <a:off x="9776625" y="115033"/>
            <a:ext cx="5736323" cy="1353312"/>
          </a:xfrm>
          <a:custGeom>
            <a:rect b="b" l="l" r="r" t="t"/>
            <a:pathLst>
              <a:path extrusionOk="0" h="2438400" w="10335718">
                <a:moveTo>
                  <a:pt x="0" y="0"/>
                </a:moveTo>
                <a:lnTo>
                  <a:pt x="10335718" y="0"/>
                </a:lnTo>
                <a:lnTo>
                  <a:pt x="10335718" y="2019300"/>
                </a:lnTo>
                <a:lnTo>
                  <a:pt x="9169400" y="2019300"/>
                </a:lnTo>
                <a:lnTo>
                  <a:pt x="9169400" y="2438400"/>
                </a:lnTo>
                <a:lnTo>
                  <a:pt x="0" y="24384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0" r="0" t="64167"/>
          <a:stretch/>
        </p:blipFill>
        <p:spPr>
          <a:xfrm>
            <a:off x="15461393" y="-17"/>
            <a:ext cx="5736323" cy="1351597"/>
          </a:xfrm>
          <a:custGeom>
            <a:rect b="b" l="l" r="r" t="t"/>
            <a:pathLst>
              <a:path extrusionOk="0" h="2457450" w="10335718">
                <a:moveTo>
                  <a:pt x="0" y="0"/>
                </a:moveTo>
                <a:lnTo>
                  <a:pt x="7886700" y="0"/>
                </a:lnTo>
                <a:lnTo>
                  <a:pt x="7886700" y="447675"/>
                </a:lnTo>
                <a:lnTo>
                  <a:pt x="10335718" y="447675"/>
                </a:lnTo>
                <a:lnTo>
                  <a:pt x="10335718" y="2457450"/>
                </a:lnTo>
                <a:lnTo>
                  <a:pt x="0" y="245745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7" name="Google Shape;27;p4"/>
          <p:cNvSpPr txBox="1"/>
          <p:nvPr>
            <p:ph type="title"/>
          </p:nvPr>
        </p:nvSpPr>
        <p:spPr>
          <a:xfrm>
            <a:off x="550150" y="3016350"/>
            <a:ext cx="169410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550150" y="4932500"/>
            <a:ext cx="10775400" cy="14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72.png"/><Relationship Id="rId8" Type="http://schemas.openxmlformats.org/officeDocument/2006/relationships/image" Target="../media/image4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38.png"/><Relationship Id="rId8" Type="http://schemas.openxmlformats.org/officeDocument/2006/relationships/image" Target="../media/image4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5.png"/><Relationship Id="rId5" Type="http://schemas.openxmlformats.org/officeDocument/2006/relationships/image" Target="../media/image42.png"/><Relationship Id="rId6" Type="http://schemas.openxmlformats.org/officeDocument/2006/relationships/image" Target="../media/image4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11" Type="http://schemas.openxmlformats.org/officeDocument/2006/relationships/image" Target="../media/image49.png"/><Relationship Id="rId10" Type="http://schemas.openxmlformats.org/officeDocument/2006/relationships/image" Target="../media/image58.png"/><Relationship Id="rId9" Type="http://schemas.openxmlformats.org/officeDocument/2006/relationships/image" Target="../media/image40.png"/><Relationship Id="rId5" Type="http://schemas.openxmlformats.org/officeDocument/2006/relationships/image" Target="../media/image57.png"/><Relationship Id="rId6" Type="http://schemas.openxmlformats.org/officeDocument/2006/relationships/image" Target="../media/image50.png"/><Relationship Id="rId7" Type="http://schemas.openxmlformats.org/officeDocument/2006/relationships/image" Target="../media/image48.png"/><Relationship Id="rId8" Type="http://schemas.openxmlformats.org/officeDocument/2006/relationships/image" Target="../media/image3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4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67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69.png"/><Relationship Id="rId10" Type="http://schemas.openxmlformats.org/officeDocument/2006/relationships/image" Target="../media/image71.png"/><Relationship Id="rId13" Type="http://schemas.openxmlformats.org/officeDocument/2006/relationships/image" Target="../media/image63.png"/><Relationship Id="rId1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7.png"/><Relationship Id="rId4" Type="http://schemas.openxmlformats.org/officeDocument/2006/relationships/image" Target="../media/image61.png"/><Relationship Id="rId9" Type="http://schemas.openxmlformats.org/officeDocument/2006/relationships/image" Target="../media/image73.png"/><Relationship Id="rId14" Type="http://schemas.openxmlformats.org/officeDocument/2006/relationships/image" Target="../media/image6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14.png"/><Relationship Id="rId8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hyperlink" Target="https://help.superorder.com/articles/436657-billing-faq" TargetMode="External"/><Relationship Id="rId10" Type="http://schemas.openxmlformats.org/officeDocument/2006/relationships/hyperlink" Target="https://help.superorder.com/articles/488988-general-faq" TargetMode="External"/><Relationship Id="rId13" Type="http://schemas.openxmlformats.org/officeDocument/2006/relationships/hyperlink" Target="mailto:help@superorder.com" TargetMode="External"/><Relationship Id="rId12" Type="http://schemas.openxmlformats.org/officeDocument/2006/relationships/hyperlink" Target="https://help.superorder.com/categories/396291-getting-started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8.png"/><Relationship Id="rId4" Type="http://schemas.openxmlformats.org/officeDocument/2006/relationships/image" Target="../media/image74.png"/><Relationship Id="rId9" Type="http://schemas.openxmlformats.org/officeDocument/2006/relationships/image" Target="../media/image83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3863" y="3849250"/>
            <a:ext cx="572452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81063" y="3482538"/>
            <a:ext cx="1895475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/>
          <p:nvPr/>
        </p:nvSpPr>
        <p:spPr>
          <a:xfrm>
            <a:off x="10252313" y="4235013"/>
            <a:ext cx="504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270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4800"/>
              <a:buFont typeface="Inter SemiBold"/>
              <a:buNone/>
            </a:pPr>
            <a:r>
              <a:rPr b="0" i="0" lang="en-US" sz="4800" u="none" cap="none" strike="noStrike">
                <a:solidFill>
                  <a:srgbClr val="1E25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X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5172150" y="6117500"/>
            <a:ext cx="79437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Company Name</a:t>
            </a:r>
            <a:endParaRPr b="1" sz="640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6203400" y="7352825"/>
            <a:ext cx="58812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Month Year</a:t>
            </a:r>
            <a:endParaRPr sz="280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" name="Google Shape;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" name="Google Shape;4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9677400"/>
            <a:ext cx="9810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" name="Google Shape;4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8300" y="2838450"/>
            <a:ext cx="826770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" name="Google Shape;4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8300" y="3743325"/>
            <a:ext cx="826770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8300" y="4648200"/>
            <a:ext cx="826770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" name="Google Shape;5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8300" y="5553075"/>
            <a:ext cx="826770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" name="Google Shape;5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8300" y="6457950"/>
            <a:ext cx="826770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" name="Google Shape;5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8300" y="7362825"/>
            <a:ext cx="826770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" name="Google Shape;5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8300" y="8267700"/>
            <a:ext cx="826770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" name="Google Shape;5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8300" y="9172575"/>
            <a:ext cx="8267700" cy="1828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13745775" y="9734550"/>
            <a:ext cx="30561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PROPRIETARY AND CONFIDENTIAL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6" name="Google Shape;56;p6"/>
          <p:cNvGrpSpPr/>
          <p:nvPr/>
        </p:nvGrpSpPr>
        <p:grpSpPr>
          <a:xfrm>
            <a:off x="9258300" y="2171700"/>
            <a:ext cx="8267700" cy="447675"/>
            <a:chOff x="9258300" y="1638300"/>
            <a:chExt cx="8267700" cy="447675"/>
          </a:xfrm>
        </p:grpSpPr>
        <p:pic>
          <p:nvPicPr>
            <p:cNvPr descr="preencoded.png" id="57" name="Google Shape;57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58300" y="1638300"/>
              <a:ext cx="8267700" cy="44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6"/>
            <p:cNvSpPr/>
            <p:nvPr/>
          </p:nvSpPr>
          <p:spPr>
            <a:xfrm>
              <a:off x="9391650" y="1762125"/>
              <a:ext cx="1908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Inter SemiBold"/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6"/>
          <p:cNvSpPr/>
          <p:nvPr/>
        </p:nvSpPr>
        <p:spPr>
          <a:xfrm>
            <a:off x="9953625" y="2271725"/>
            <a:ext cx="6268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800"/>
              <a:buFont typeface="Inter SemiBold"/>
              <a:buNone/>
            </a:pPr>
            <a:r>
              <a:rPr b="0" i="0" lang="en-US" sz="2800" u="none" cap="none" strike="noStrike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Introduce your Superorder Team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" name="Google Shape;60;p6"/>
          <p:cNvGrpSpPr/>
          <p:nvPr/>
        </p:nvGrpSpPr>
        <p:grpSpPr>
          <a:xfrm>
            <a:off x="9258300" y="3076575"/>
            <a:ext cx="8267700" cy="447675"/>
            <a:chOff x="9258300" y="2543175"/>
            <a:chExt cx="8267700" cy="447675"/>
          </a:xfrm>
        </p:grpSpPr>
        <p:pic>
          <p:nvPicPr>
            <p:cNvPr descr="preencoded.png" id="61" name="Google Shape;61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58300" y="2543175"/>
              <a:ext cx="8267700" cy="44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6"/>
            <p:cNvSpPr/>
            <p:nvPr/>
          </p:nvSpPr>
          <p:spPr>
            <a:xfrm>
              <a:off x="9372600" y="2667000"/>
              <a:ext cx="2286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Inter SemiBold"/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6"/>
          <p:cNvSpPr/>
          <p:nvPr/>
        </p:nvSpPr>
        <p:spPr>
          <a:xfrm>
            <a:off x="9953625" y="3176588"/>
            <a:ext cx="2610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800"/>
              <a:buFont typeface="Inter SemiBold"/>
              <a:buNone/>
            </a:pPr>
            <a:r>
              <a:rPr b="0" i="0" lang="en-US" sz="2800" u="none" cap="none" strike="noStrike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 to expect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" name="Google Shape;64;p6"/>
          <p:cNvGrpSpPr/>
          <p:nvPr/>
        </p:nvGrpSpPr>
        <p:grpSpPr>
          <a:xfrm>
            <a:off x="9258300" y="3981450"/>
            <a:ext cx="8267700" cy="447675"/>
            <a:chOff x="9258300" y="3448050"/>
            <a:chExt cx="8267700" cy="447675"/>
          </a:xfrm>
        </p:grpSpPr>
        <p:pic>
          <p:nvPicPr>
            <p:cNvPr descr="preencoded.png" id="65" name="Google Shape;65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58300" y="3448050"/>
              <a:ext cx="8267700" cy="44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6"/>
            <p:cNvSpPr/>
            <p:nvPr/>
          </p:nvSpPr>
          <p:spPr>
            <a:xfrm>
              <a:off x="9363075" y="3571875"/>
              <a:ext cx="2382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Inter SemiBold"/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" name="Google Shape;67;p6"/>
          <p:cNvSpPr/>
          <p:nvPr/>
        </p:nvSpPr>
        <p:spPr>
          <a:xfrm>
            <a:off x="9953625" y="4081475"/>
            <a:ext cx="3984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800"/>
              <a:buFont typeface="Inter SemiBold"/>
              <a:buNone/>
            </a:pPr>
            <a:r>
              <a:rPr lang="en-US" sz="2800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" name="Google Shape;68;p6"/>
          <p:cNvGrpSpPr/>
          <p:nvPr/>
        </p:nvGrpSpPr>
        <p:grpSpPr>
          <a:xfrm>
            <a:off x="9258300" y="4886325"/>
            <a:ext cx="8267700" cy="447675"/>
            <a:chOff x="9258300" y="4352925"/>
            <a:chExt cx="8267700" cy="447675"/>
          </a:xfrm>
        </p:grpSpPr>
        <p:pic>
          <p:nvPicPr>
            <p:cNvPr descr="preencoded.png" id="69" name="Google Shape;69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58300" y="4352925"/>
              <a:ext cx="8267700" cy="44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6"/>
            <p:cNvSpPr/>
            <p:nvPr/>
          </p:nvSpPr>
          <p:spPr>
            <a:xfrm>
              <a:off x="9363075" y="4476750"/>
              <a:ext cx="2382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Inter SemiBold"/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4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" name="Google Shape;71;p6"/>
          <p:cNvSpPr/>
          <p:nvPr/>
        </p:nvSpPr>
        <p:spPr>
          <a:xfrm>
            <a:off x="9953625" y="4986338"/>
            <a:ext cx="2638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800"/>
              <a:buFont typeface="Inter SemiBold"/>
              <a:buNone/>
            </a:pPr>
            <a:r>
              <a:rPr b="0" i="0" lang="en-US" sz="2800" u="none" cap="none" strike="noStrike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 Bundle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" name="Google Shape;72;p6"/>
          <p:cNvGrpSpPr/>
          <p:nvPr/>
        </p:nvGrpSpPr>
        <p:grpSpPr>
          <a:xfrm>
            <a:off x="9258300" y="5791200"/>
            <a:ext cx="8267700" cy="447675"/>
            <a:chOff x="9258300" y="5257800"/>
            <a:chExt cx="8267700" cy="447675"/>
          </a:xfrm>
        </p:grpSpPr>
        <p:pic>
          <p:nvPicPr>
            <p:cNvPr descr="preencoded.png" id="73" name="Google Shape;73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58300" y="5257800"/>
              <a:ext cx="8267700" cy="44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p6"/>
            <p:cNvSpPr/>
            <p:nvPr/>
          </p:nvSpPr>
          <p:spPr>
            <a:xfrm>
              <a:off x="9372600" y="5381625"/>
              <a:ext cx="2286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Inter SemiBold"/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5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" name="Google Shape;75;p6"/>
          <p:cNvSpPr/>
          <p:nvPr/>
        </p:nvSpPr>
        <p:spPr>
          <a:xfrm>
            <a:off x="9953625" y="5891225"/>
            <a:ext cx="6408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800"/>
              <a:buFont typeface="Inter SemiBold"/>
              <a:buNone/>
            </a:pPr>
            <a:r>
              <a:rPr lang="en-US" sz="2800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Who will participate in onboarding?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" name="Google Shape;76;p6"/>
          <p:cNvGrpSpPr/>
          <p:nvPr/>
        </p:nvGrpSpPr>
        <p:grpSpPr>
          <a:xfrm>
            <a:off x="9258300" y="6696075"/>
            <a:ext cx="8267700" cy="447675"/>
            <a:chOff x="9258300" y="6162675"/>
            <a:chExt cx="8267700" cy="447675"/>
          </a:xfrm>
        </p:grpSpPr>
        <p:pic>
          <p:nvPicPr>
            <p:cNvPr descr="preencoded.png" id="77" name="Google Shape;77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58300" y="6162675"/>
              <a:ext cx="8267700" cy="44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6"/>
            <p:cNvSpPr/>
            <p:nvPr/>
          </p:nvSpPr>
          <p:spPr>
            <a:xfrm>
              <a:off x="9363075" y="6286500"/>
              <a:ext cx="2382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Inter SemiBold"/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6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" name="Google Shape;79;p6"/>
          <p:cNvSpPr/>
          <p:nvPr/>
        </p:nvSpPr>
        <p:spPr>
          <a:xfrm>
            <a:off x="9953625" y="6796100"/>
            <a:ext cx="6217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800"/>
              <a:buFont typeface="Inter SemiBold"/>
              <a:buNone/>
            </a:pPr>
            <a:r>
              <a:rPr lang="en-US" sz="2800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Integration Steps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6"/>
          <p:cNvGrpSpPr/>
          <p:nvPr/>
        </p:nvGrpSpPr>
        <p:grpSpPr>
          <a:xfrm>
            <a:off x="9258300" y="7600950"/>
            <a:ext cx="8267700" cy="447675"/>
            <a:chOff x="9258300" y="7067550"/>
            <a:chExt cx="8267700" cy="447675"/>
          </a:xfrm>
        </p:grpSpPr>
        <p:pic>
          <p:nvPicPr>
            <p:cNvPr descr="preencoded.png" id="81" name="Google Shape;81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58300" y="7067550"/>
              <a:ext cx="8267700" cy="44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" name="Google Shape;82;p6"/>
            <p:cNvSpPr/>
            <p:nvPr/>
          </p:nvSpPr>
          <p:spPr>
            <a:xfrm>
              <a:off x="9382125" y="7191375"/>
              <a:ext cx="2190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Inter SemiBold"/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7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6"/>
          <p:cNvSpPr/>
          <p:nvPr/>
        </p:nvSpPr>
        <p:spPr>
          <a:xfrm>
            <a:off x="9953625" y="7700975"/>
            <a:ext cx="4519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800"/>
              <a:buFont typeface="Inter SemiBold"/>
              <a:buNone/>
            </a:pPr>
            <a:r>
              <a:rPr lang="en-US" sz="2800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Timeline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6"/>
          <p:cNvGrpSpPr/>
          <p:nvPr/>
        </p:nvGrpSpPr>
        <p:grpSpPr>
          <a:xfrm>
            <a:off x="9258300" y="8505825"/>
            <a:ext cx="8267700" cy="447675"/>
            <a:chOff x="9258300" y="7972425"/>
            <a:chExt cx="8267700" cy="447675"/>
          </a:xfrm>
        </p:grpSpPr>
        <p:pic>
          <p:nvPicPr>
            <p:cNvPr descr="preencoded.png" id="85" name="Google Shape;85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58300" y="7972425"/>
              <a:ext cx="8267700" cy="44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6"/>
            <p:cNvSpPr/>
            <p:nvPr/>
          </p:nvSpPr>
          <p:spPr>
            <a:xfrm>
              <a:off x="9363075" y="8096250"/>
              <a:ext cx="2382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Inter SemiBold"/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8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6"/>
          <p:cNvSpPr/>
          <p:nvPr/>
        </p:nvSpPr>
        <p:spPr>
          <a:xfrm>
            <a:off x="9953625" y="8605850"/>
            <a:ext cx="2937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800"/>
              <a:buFont typeface="Inter SemiBold"/>
              <a:buNone/>
            </a:pPr>
            <a:r>
              <a:rPr b="0" i="0" lang="en-US" sz="2800" u="none" cap="none" strike="noStrike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Help resources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17261398" y="9699300"/>
            <a:ext cx="26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762000" y="1000125"/>
            <a:ext cx="120132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70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5400"/>
              <a:buFont typeface="Inter"/>
              <a:buNone/>
            </a:pPr>
            <a:r>
              <a:rPr b="1" lang="en-US" sz="54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Your Superorder Team and Agenda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762000" y="2201325"/>
            <a:ext cx="6789900" cy="3380400"/>
          </a:xfrm>
          <a:prstGeom prst="roundRect">
            <a:avLst>
              <a:gd fmla="val 2063" name="adj"/>
            </a:avLst>
          </a:prstGeom>
          <a:solidFill>
            <a:schemeClr val="lt1"/>
          </a:solidFill>
          <a:ln cap="flat" cmpd="sng" w="9525">
            <a:solidFill>
              <a:srgbClr val="2CC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762000" y="5792278"/>
            <a:ext cx="6789900" cy="3380400"/>
          </a:xfrm>
          <a:prstGeom prst="roundRect">
            <a:avLst>
              <a:gd fmla="val 2063" name="adj"/>
            </a:avLst>
          </a:prstGeom>
          <a:solidFill>
            <a:schemeClr val="lt1"/>
          </a:solidFill>
          <a:ln cap="flat" cmpd="sng" w="9525">
            <a:solidFill>
              <a:srgbClr val="2CC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5425" y="6126793"/>
            <a:ext cx="2711371" cy="27113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4087125" y="3534263"/>
            <a:ext cx="2324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400"/>
              <a:buFont typeface="Inter SemiBold"/>
              <a:buNone/>
            </a:pPr>
            <a:r>
              <a:rPr lang="en-US" sz="2800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Simon 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087125" y="4000988"/>
            <a:ext cx="2937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1600"/>
              <a:buFont typeface="Inter"/>
              <a:buNone/>
            </a:pPr>
            <a:r>
              <a:rPr b="0" i="0" lang="en-US" sz="1800" u="none" cap="none" strike="noStrike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ONBOARDING MANAGER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087125" y="7125213"/>
            <a:ext cx="2324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400"/>
              <a:buFont typeface="Inter SemiBold"/>
              <a:buNone/>
            </a:pPr>
            <a:r>
              <a:rPr lang="en-US" sz="2800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Sephra Engel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087125" y="7591938"/>
            <a:ext cx="2937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1600"/>
              <a:buFont typeface="Inter"/>
              <a:buNone/>
            </a:pPr>
            <a:r>
              <a:rPr lang="en-US" sz="18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ACCOUNT</a:t>
            </a:r>
            <a:r>
              <a:rPr b="0" i="0" lang="en-US" sz="1800" u="none" cap="none" strike="noStrike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 MANAGER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6" title="nowy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55425" y="2535837"/>
            <a:ext cx="2711376" cy="271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3" name="Google Shape;1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9677400"/>
            <a:ext cx="9810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8300" y="2838450"/>
            <a:ext cx="826770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8300" y="3743325"/>
            <a:ext cx="826770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8300" y="4648200"/>
            <a:ext cx="826770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8" name="Google Shape;10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8300" y="5553075"/>
            <a:ext cx="826770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9" name="Google Shape;10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8300" y="6457950"/>
            <a:ext cx="826770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0" name="Google Shape;11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8300" y="7362825"/>
            <a:ext cx="826770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" name="Google Shape;11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8300" y="8267700"/>
            <a:ext cx="8267700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8300" y="9172575"/>
            <a:ext cx="8267700" cy="18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/>
          <p:nvPr/>
        </p:nvSpPr>
        <p:spPr>
          <a:xfrm>
            <a:off x="13745775" y="9734550"/>
            <a:ext cx="30561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PROPRIETARY AND CONFIDENTIAL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4" name="Google Shape;114;p7"/>
          <p:cNvGrpSpPr/>
          <p:nvPr/>
        </p:nvGrpSpPr>
        <p:grpSpPr>
          <a:xfrm>
            <a:off x="9258300" y="2171700"/>
            <a:ext cx="8267700" cy="447675"/>
            <a:chOff x="9258300" y="1638300"/>
            <a:chExt cx="8267700" cy="447675"/>
          </a:xfrm>
        </p:grpSpPr>
        <p:pic>
          <p:nvPicPr>
            <p:cNvPr descr="preencoded.png" id="115" name="Google Shape;115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58300" y="1638300"/>
              <a:ext cx="8267700" cy="44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7"/>
            <p:cNvSpPr/>
            <p:nvPr/>
          </p:nvSpPr>
          <p:spPr>
            <a:xfrm>
              <a:off x="9391650" y="1762125"/>
              <a:ext cx="1908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Inter SemiBold"/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7"/>
          <p:cNvSpPr/>
          <p:nvPr/>
        </p:nvSpPr>
        <p:spPr>
          <a:xfrm>
            <a:off x="9953625" y="2271725"/>
            <a:ext cx="6268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800"/>
              <a:buFont typeface="Inter SemiBold"/>
              <a:buNone/>
            </a:pPr>
            <a:r>
              <a:rPr b="0" i="0" lang="en-US" sz="2800" u="none" cap="none" strike="noStrike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Introduce your Superorder Team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7"/>
          <p:cNvGrpSpPr/>
          <p:nvPr/>
        </p:nvGrpSpPr>
        <p:grpSpPr>
          <a:xfrm>
            <a:off x="9258300" y="3076575"/>
            <a:ext cx="8267700" cy="447675"/>
            <a:chOff x="9258300" y="2543175"/>
            <a:chExt cx="8267700" cy="447675"/>
          </a:xfrm>
        </p:grpSpPr>
        <p:pic>
          <p:nvPicPr>
            <p:cNvPr descr="preencoded.png" id="119" name="Google Shape;119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58300" y="2543175"/>
              <a:ext cx="8267700" cy="44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7"/>
            <p:cNvSpPr/>
            <p:nvPr/>
          </p:nvSpPr>
          <p:spPr>
            <a:xfrm>
              <a:off x="9372600" y="2667000"/>
              <a:ext cx="2286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Inter SemiBold"/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7"/>
          <p:cNvSpPr/>
          <p:nvPr/>
        </p:nvSpPr>
        <p:spPr>
          <a:xfrm>
            <a:off x="9953625" y="3176588"/>
            <a:ext cx="2610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800"/>
              <a:buFont typeface="Inter SemiBold"/>
              <a:buNone/>
            </a:pPr>
            <a:r>
              <a:rPr b="0" i="0" lang="en-US" sz="2800" u="none" cap="none" strike="noStrike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 to expect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7"/>
          <p:cNvGrpSpPr/>
          <p:nvPr/>
        </p:nvGrpSpPr>
        <p:grpSpPr>
          <a:xfrm>
            <a:off x="9258300" y="3981450"/>
            <a:ext cx="8267700" cy="447675"/>
            <a:chOff x="9258300" y="3448050"/>
            <a:chExt cx="8267700" cy="447675"/>
          </a:xfrm>
        </p:grpSpPr>
        <p:pic>
          <p:nvPicPr>
            <p:cNvPr descr="preencoded.png" id="123" name="Google Shape;123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58300" y="3448050"/>
              <a:ext cx="8267700" cy="44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7"/>
            <p:cNvSpPr/>
            <p:nvPr/>
          </p:nvSpPr>
          <p:spPr>
            <a:xfrm>
              <a:off x="9363075" y="3571875"/>
              <a:ext cx="2382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Inter SemiBold"/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7"/>
          <p:cNvSpPr/>
          <p:nvPr/>
        </p:nvSpPr>
        <p:spPr>
          <a:xfrm>
            <a:off x="9953625" y="4081475"/>
            <a:ext cx="3984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800"/>
              <a:buFont typeface="Inter SemiBold"/>
              <a:buNone/>
            </a:pPr>
            <a:r>
              <a:rPr lang="en-US" sz="2800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" name="Google Shape;126;p7"/>
          <p:cNvGrpSpPr/>
          <p:nvPr/>
        </p:nvGrpSpPr>
        <p:grpSpPr>
          <a:xfrm>
            <a:off x="9258300" y="4886325"/>
            <a:ext cx="8267700" cy="447675"/>
            <a:chOff x="9258300" y="4352925"/>
            <a:chExt cx="8267700" cy="447675"/>
          </a:xfrm>
        </p:grpSpPr>
        <p:pic>
          <p:nvPicPr>
            <p:cNvPr descr="preencoded.png" id="127" name="Google Shape;127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58300" y="4352925"/>
              <a:ext cx="8267700" cy="44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7"/>
            <p:cNvSpPr/>
            <p:nvPr/>
          </p:nvSpPr>
          <p:spPr>
            <a:xfrm>
              <a:off x="9363075" y="4476750"/>
              <a:ext cx="2382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Inter SemiBold"/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4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7"/>
          <p:cNvSpPr/>
          <p:nvPr/>
        </p:nvSpPr>
        <p:spPr>
          <a:xfrm>
            <a:off x="9953625" y="4986338"/>
            <a:ext cx="2638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800"/>
              <a:buFont typeface="Inter SemiBold"/>
              <a:buNone/>
            </a:pPr>
            <a:r>
              <a:rPr b="0" i="0" lang="en-US" sz="2800" u="none" cap="none" strike="noStrike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 Bundle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0" name="Google Shape;130;p7"/>
          <p:cNvGrpSpPr/>
          <p:nvPr/>
        </p:nvGrpSpPr>
        <p:grpSpPr>
          <a:xfrm>
            <a:off x="9258300" y="5791200"/>
            <a:ext cx="8267700" cy="447675"/>
            <a:chOff x="9258300" y="5257800"/>
            <a:chExt cx="8267700" cy="447675"/>
          </a:xfrm>
        </p:grpSpPr>
        <p:pic>
          <p:nvPicPr>
            <p:cNvPr descr="preencoded.png" id="131" name="Google Shape;131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58300" y="5257800"/>
              <a:ext cx="8267700" cy="44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p7"/>
            <p:cNvSpPr/>
            <p:nvPr/>
          </p:nvSpPr>
          <p:spPr>
            <a:xfrm>
              <a:off x="9372600" y="5381625"/>
              <a:ext cx="2286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Inter SemiBold"/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5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7"/>
          <p:cNvSpPr/>
          <p:nvPr/>
        </p:nvSpPr>
        <p:spPr>
          <a:xfrm>
            <a:off x="9953625" y="5891225"/>
            <a:ext cx="6408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800"/>
              <a:buFont typeface="Inter SemiBold"/>
              <a:buNone/>
            </a:pPr>
            <a:r>
              <a:rPr lang="en-US" sz="2800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Who will participate in onboarding?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" name="Google Shape;134;p7"/>
          <p:cNvGrpSpPr/>
          <p:nvPr/>
        </p:nvGrpSpPr>
        <p:grpSpPr>
          <a:xfrm>
            <a:off x="9258300" y="6696075"/>
            <a:ext cx="8267700" cy="447675"/>
            <a:chOff x="9258300" y="6162675"/>
            <a:chExt cx="8267700" cy="447675"/>
          </a:xfrm>
        </p:grpSpPr>
        <p:pic>
          <p:nvPicPr>
            <p:cNvPr descr="preencoded.png" id="135" name="Google Shape;135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58300" y="6162675"/>
              <a:ext cx="8267700" cy="44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7"/>
            <p:cNvSpPr/>
            <p:nvPr/>
          </p:nvSpPr>
          <p:spPr>
            <a:xfrm>
              <a:off x="9363075" y="6286500"/>
              <a:ext cx="2382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Inter SemiBold"/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6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7"/>
          <p:cNvSpPr/>
          <p:nvPr/>
        </p:nvSpPr>
        <p:spPr>
          <a:xfrm>
            <a:off x="9953625" y="6796100"/>
            <a:ext cx="6217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800"/>
              <a:buFont typeface="Inter SemiBold"/>
              <a:buNone/>
            </a:pPr>
            <a:r>
              <a:rPr lang="en-US" sz="2800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Integration Steps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7"/>
          <p:cNvGrpSpPr/>
          <p:nvPr/>
        </p:nvGrpSpPr>
        <p:grpSpPr>
          <a:xfrm>
            <a:off x="9258300" y="7600950"/>
            <a:ext cx="8267700" cy="447675"/>
            <a:chOff x="9258300" y="7067550"/>
            <a:chExt cx="8267700" cy="447675"/>
          </a:xfrm>
        </p:grpSpPr>
        <p:pic>
          <p:nvPicPr>
            <p:cNvPr descr="preencoded.png" id="139" name="Google Shape;139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58300" y="7067550"/>
              <a:ext cx="8267700" cy="44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p7"/>
            <p:cNvSpPr/>
            <p:nvPr/>
          </p:nvSpPr>
          <p:spPr>
            <a:xfrm>
              <a:off x="9382125" y="7191375"/>
              <a:ext cx="2190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Inter SemiBold"/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7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7"/>
          <p:cNvSpPr/>
          <p:nvPr/>
        </p:nvSpPr>
        <p:spPr>
          <a:xfrm>
            <a:off x="9953625" y="7700975"/>
            <a:ext cx="4519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800"/>
              <a:buFont typeface="Inter SemiBold"/>
              <a:buNone/>
            </a:pPr>
            <a:r>
              <a:rPr lang="en-US" sz="2800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Timeline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2" name="Google Shape;142;p7"/>
          <p:cNvGrpSpPr/>
          <p:nvPr/>
        </p:nvGrpSpPr>
        <p:grpSpPr>
          <a:xfrm>
            <a:off x="9258300" y="8505825"/>
            <a:ext cx="8267700" cy="447675"/>
            <a:chOff x="9258300" y="7972425"/>
            <a:chExt cx="8267700" cy="447675"/>
          </a:xfrm>
        </p:grpSpPr>
        <p:pic>
          <p:nvPicPr>
            <p:cNvPr descr="preencoded.png" id="143" name="Google Shape;143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58300" y="7972425"/>
              <a:ext cx="8267700" cy="44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7"/>
            <p:cNvSpPr/>
            <p:nvPr/>
          </p:nvSpPr>
          <p:spPr>
            <a:xfrm>
              <a:off x="9363075" y="8096250"/>
              <a:ext cx="2382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Inter SemiBold"/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8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7"/>
          <p:cNvSpPr/>
          <p:nvPr/>
        </p:nvSpPr>
        <p:spPr>
          <a:xfrm>
            <a:off x="9953625" y="8605850"/>
            <a:ext cx="2937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800"/>
              <a:buFont typeface="Inter SemiBold"/>
              <a:buNone/>
            </a:pPr>
            <a:r>
              <a:rPr b="0" i="0" lang="en-US" sz="2800" u="none" cap="none" strike="noStrike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Help resources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17261398" y="9699300"/>
            <a:ext cx="26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762000" y="1000125"/>
            <a:ext cx="120132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70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5400"/>
              <a:buFont typeface="Inter"/>
              <a:buNone/>
            </a:pPr>
            <a:r>
              <a:rPr b="1" lang="en-US" sz="54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Your Superorder Team and Agenda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762000" y="2201325"/>
            <a:ext cx="6789900" cy="3380400"/>
          </a:xfrm>
          <a:prstGeom prst="roundRect">
            <a:avLst>
              <a:gd fmla="val 2063" name="adj"/>
            </a:avLst>
          </a:prstGeom>
          <a:solidFill>
            <a:schemeClr val="lt1"/>
          </a:solidFill>
          <a:ln cap="flat" cmpd="sng" w="9525">
            <a:solidFill>
              <a:srgbClr val="2CC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762000" y="5792278"/>
            <a:ext cx="6789900" cy="3380400"/>
          </a:xfrm>
          <a:prstGeom prst="roundRect">
            <a:avLst>
              <a:gd fmla="val 2063" name="adj"/>
            </a:avLst>
          </a:prstGeom>
          <a:solidFill>
            <a:schemeClr val="lt1"/>
          </a:solidFill>
          <a:ln cap="flat" cmpd="sng" w="9525">
            <a:solidFill>
              <a:srgbClr val="2CC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087125" y="3534263"/>
            <a:ext cx="2324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400"/>
              <a:buFont typeface="Inter SemiBold"/>
              <a:buNone/>
            </a:pPr>
            <a:r>
              <a:rPr lang="en-US" sz="2800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Simon 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087125" y="4000988"/>
            <a:ext cx="2937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1600"/>
              <a:buFont typeface="Inter"/>
              <a:buNone/>
            </a:pPr>
            <a:r>
              <a:rPr b="0" i="0" lang="en-US" sz="1800" u="none" cap="none" strike="noStrike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ONBOARDING MANAGER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087125" y="7125213"/>
            <a:ext cx="2324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400"/>
              <a:buFont typeface="Inter SemiBold"/>
              <a:buNone/>
            </a:pPr>
            <a:r>
              <a:rPr lang="en-US" sz="2800">
                <a:solidFill>
                  <a:srgbClr val="0724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Maanav Patel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087125" y="7591938"/>
            <a:ext cx="2937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1600"/>
              <a:buFont typeface="Inter"/>
              <a:buNone/>
            </a:pPr>
            <a:r>
              <a:rPr lang="en-US" sz="18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ACCOUNT</a:t>
            </a:r>
            <a:r>
              <a:rPr b="0" i="0" lang="en-US" sz="1800" u="none" cap="none" strike="noStrike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 MANAGER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5425" y="6106632"/>
            <a:ext cx="2711375" cy="271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7" title="nowy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55425" y="2576162"/>
            <a:ext cx="2711376" cy="271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1190225" y="2403607"/>
            <a:ext cx="4960800" cy="3921000"/>
          </a:xfrm>
          <a:prstGeom prst="roundRect">
            <a:avLst>
              <a:gd fmla="val 2063" name="adj"/>
            </a:avLst>
          </a:prstGeom>
          <a:solidFill>
            <a:schemeClr val="lt1"/>
          </a:solidFill>
          <a:ln cap="flat" cmpd="sng" w="9525">
            <a:solidFill>
              <a:srgbClr val="2CC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28600" spcFirstLastPara="1" rIns="2286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Inter"/>
                <a:ea typeface="Inter"/>
                <a:cs typeface="Inter"/>
                <a:sym typeface="Inter"/>
              </a:rPr>
              <a:t>Dedicated 1:1 support from a Superorder onboarding manager</a:t>
            </a:r>
            <a:endParaRPr b="1"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663604" y="2412519"/>
            <a:ext cx="4960800" cy="3921000"/>
          </a:xfrm>
          <a:prstGeom prst="roundRect">
            <a:avLst>
              <a:gd fmla="val 2063" name="adj"/>
            </a:avLst>
          </a:prstGeom>
          <a:solidFill>
            <a:schemeClr val="lt1"/>
          </a:solidFill>
          <a:ln cap="flat" cmpd="sng" w="9525">
            <a:solidFill>
              <a:srgbClr val="2CC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28600" spcFirstLastPara="1" rIns="2286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241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Personalized recommendations and best practices for setting up your Superorder account</a:t>
            </a:r>
            <a:endParaRPr sz="2400"/>
          </a:p>
        </p:txBody>
      </p:sp>
      <p:sp>
        <p:nvSpPr>
          <p:cNvPr id="163" name="Google Shape;163;p8"/>
          <p:cNvSpPr/>
          <p:nvPr/>
        </p:nvSpPr>
        <p:spPr>
          <a:xfrm>
            <a:off x="12136976" y="2403600"/>
            <a:ext cx="4960800" cy="3921000"/>
          </a:xfrm>
          <a:prstGeom prst="roundRect">
            <a:avLst>
              <a:gd fmla="val 2063" name="adj"/>
            </a:avLst>
          </a:prstGeom>
          <a:solidFill>
            <a:schemeClr val="lt1"/>
          </a:solidFill>
          <a:ln cap="flat" cmpd="sng" w="9525">
            <a:solidFill>
              <a:srgbClr val="2CC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28600" spcFirstLastPara="1" rIns="2286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241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Technical support to set up platform integrations and billing</a:t>
            </a:r>
            <a:endParaRPr b="1" sz="2400">
              <a:solidFill>
                <a:srgbClr val="07241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3163650" y="902350"/>
            <a:ext cx="119607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What to expect during onboarding</a:t>
            </a:r>
            <a:endParaRPr b="1" sz="5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9677400"/>
            <a:ext cx="9810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13745775" y="9734550"/>
            <a:ext cx="30561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PROPRIETARY AND CONFIDENTIAL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17261398" y="9699300"/>
            <a:ext cx="26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8" name="Google Shape;16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9225" y="2854649"/>
            <a:ext cx="702800" cy="6958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69" name="Google Shape;16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41400" y="2899973"/>
            <a:ext cx="605200" cy="6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66100" y="2747514"/>
            <a:ext cx="902550" cy="910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6" name="Google Shape;1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7" name="Google Shape;17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9677400"/>
            <a:ext cx="9810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/>
          <p:nvPr/>
        </p:nvSpPr>
        <p:spPr>
          <a:xfrm>
            <a:off x="762000" y="1019175"/>
            <a:ext cx="101346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70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5400"/>
              <a:buFont typeface="Inter"/>
              <a:buNone/>
            </a:pPr>
            <a:r>
              <a:rPr b="1" lang="en-US" sz="54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Your products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3745775" y="9734550"/>
            <a:ext cx="30561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PROPRIETARY AND CONFIDENTIAL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17261398" y="9699300"/>
            <a:ext cx="26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1" name="Google Shape;181;p9"/>
          <p:cNvGrpSpPr/>
          <p:nvPr/>
        </p:nvGrpSpPr>
        <p:grpSpPr>
          <a:xfrm>
            <a:off x="762000" y="1996375"/>
            <a:ext cx="16764000" cy="968400"/>
            <a:chOff x="762000" y="2201325"/>
            <a:chExt cx="16764000" cy="968400"/>
          </a:xfrm>
        </p:grpSpPr>
        <p:sp>
          <p:nvSpPr>
            <p:cNvPr id="182" name="Google Shape;182;p9"/>
            <p:cNvSpPr/>
            <p:nvPr/>
          </p:nvSpPr>
          <p:spPr>
            <a:xfrm>
              <a:off x="762000" y="2201325"/>
              <a:ext cx="16764000" cy="968400"/>
            </a:xfrm>
            <a:prstGeom prst="roundRect">
              <a:avLst>
                <a:gd fmla="val 6906" name="adj"/>
              </a:avLst>
            </a:prstGeom>
            <a:solidFill>
              <a:schemeClr val="lt1"/>
            </a:solidFill>
            <a:ln cap="flat" cmpd="sng" w="9525">
              <a:solidFill>
                <a:srgbClr val="2CC2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2019300" y="2565400"/>
              <a:ext cx="35340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35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7241F"/>
                </a:buClr>
                <a:buSzPts val="2400"/>
                <a:buFont typeface="Inter"/>
                <a:buNone/>
              </a:pPr>
              <a:r>
                <a:rPr b="1" i="0" lang="en-US" sz="2300" u="none" cap="none" strike="noStrike">
                  <a:solidFill>
                    <a:srgbClr val="07241F"/>
                  </a:solidFill>
                  <a:latin typeface="Inter"/>
                  <a:ea typeface="Inter"/>
                  <a:cs typeface="Inter"/>
                  <a:sym typeface="Inter"/>
                </a:rPr>
                <a:t>AI Review Management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6410325" y="2579688"/>
              <a:ext cx="102774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52B"/>
                </a:buClr>
                <a:buSzPts val="2200"/>
                <a:buFont typeface="Inter"/>
                <a:buNone/>
              </a:pPr>
              <a:r>
                <a:rPr b="0" i="0" lang="en-US" sz="2200" u="none" cap="none" strike="noStrike">
                  <a:solidFill>
                    <a:srgbClr val="1E252B"/>
                  </a:solidFill>
                  <a:latin typeface="Inter"/>
                  <a:ea typeface="Inter"/>
                  <a:cs typeface="Inter"/>
                  <a:sym typeface="Inter"/>
                </a:rPr>
                <a:t>Engage with customer reviews and feedback with AI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" name="Google Shape;185;p9"/>
            <p:cNvCxnSpPr/>
            <p:nvPr/>
          </p:nvCxnSpPr>
          <p:spPr>
            <a:xfrm>
              <a:off x="5946900" y="2382975"/>
              <a:ext cx="0" cy="60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186" name="Google Shape;186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47750" y="2382963"/>
              <a:ext cx="600099" cy="605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7" name="Google Shape;187;p9"/>
          <p:cNvGrpSpPr/>
          <p:nvPr/>
        </p:nvGrpSpPr>
        <p:grpSpPr>
          <a:xfrm>
            <a:off x="762000" y="4094704"/>
            <a:ext cx="16764000" cy="968400"/>
            <a:chOff x="762000" y="4508488"/>
            <a:chExt cx="16764000" cy="968400"/>
          </a:xfrm>
        </p:grpSpPr>
        <p:sp>
          <p:nvSpPr>
            <p:cNvPr id="188" name="Google Shape;188;p9"/>
            <p:cNvSpPr/>
            <p:nvPr/>
          </p:nvSpPr>
          <p:spPr>
            <a:xfrm>
              <a:off x="762000" y="4508488"/>
              <a:ext cx="16764000" cy="968400"/>
            </a:xfrm>
            <a:prstGeom prst="roundRect">
              <a:avLst>
                <a:gd fmla="val 6906" name="adj"/>
              </a:avLst>
            </a:prstGeom>
            <a:solidFill>
              <a:schemeClr val="lt1"/>
            </a:solidFill>
            <a:ln cap="flat" cmpd="sng" w="9525">
              <a:solidFill>
                <a:srgbClr val="2CC2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2019300" y="4883150"/>
              <a:ext cx="35340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35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7241F"/>
                </a:buClr>
                <a:buSzPts val="2400"/>
                <a:buFont typeface="Inter"/>
                <a:buNone/>
              </a:pPr>
              <a:r>
                <a:rPr b="1" i="0" lang="en-US" sz="2300" u="none" cap="none" strike="noStrike">
                  <a:solidFill>
                    <a:srgbClr val="07241F"/>
                  </a:solidFill>
                  <a:latin typeface="Inter"/>
                  <a:ea typeface="Inter"/>
                  <a:cs typeface="Inter"/>
                  <a:sym typeface="Inter"/>
                </a:rPr>
                <a:t>Alerts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6410325" y="4897450"/>
              <a:ext cx="107250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52B"/>
                </a:buClr>
                <a:buSzPts val="2200"/>
                <a:buFont typeface="Inter"/>
                <a:buNone/>
              </a:pPr>
              <a:r>
                <a:rPr b="0" i="0" lang="en-US" sz="2200" u="none" cap="none" strike="noStrike">
                  <a:solidFill>
                    <a:srgbClr val="1E252B"/>
                  </a:solidFill>
                  <a:latin typeface="Inter"/>
                  <a:ea typeface="Inter"/>
                  <a:cs typeface="Inter"/>
                  <a:sym typeface="Inter"/>
                </a:rPr>
                <a:t>Leverage automated notifications for operational efficiency across the company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1" name="Google Shape;191;p9"/>
            <p:cNvCxnSpPr/>
            <p:nvPr/>
          </p:nvCxnSpPr>
          <p:spPr>
            <a:xfrm>
              <a:off x="5946900" y="4690138"/>
              <a:ext cx="0" cy="60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192" name="Google Shape;192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47750" y="4690137"/>
              <a:ext cx="600100" cy="6051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3" name="Google Shape;193;p9"/>
          <p:cNvGrpSpPr/>
          <p:nvPr/>
        </p:nvGrpSpPr>
        <p:grpSpPr>
          <a:xfrm>
            <a:off x="762000" y="5143869"/>
            <a:ext cx="16764000" cy="968400"/>
            <a:chOff x="762000" y="5667363"/>
            <a:chExt cx="16764000" cy="968400"/>
          </a:xfrm>
        </p:grpSpPr>
        <p:sp>
          <p:nvSpPr>
            <p:cNvPr id="194" name="Google Shape;194;p9"/>
            <p:cNvSpPr/>
            <p:nvPr/>
          </p:nvSpPr>
          <p:spPr>
            <a:xfrm>
              <a:off x="762000" y="5667363"/>
              <a:ext cx="16764000" cy="968400"/>
            </a:xfrm>
            <a:prstGeom prst="roundRect">
              <a:avLst>
                <a:gd fmla="val 6906" name="adj"/>
              </a:avLst>
            </a:prstGeom>
            <a:solidFill>
              <a:schemeClr val="lt1"/>
            </a:solidFill>
            <a:ln cap="flat" cmpd="sng" w="9525">
              <a:solidFill>
                <a:srgbClr val="2CC2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2019300" y="6042025"/>
              <a:ext cx="3619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35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7241F"/>
                </a:buClr>
                <a:buSzPts val="2400"/>
                <a:buFont typeface="Inter"/>
                <a:buNone/>
              </a:pPr>
              <a:r>
                <a:rPr b="1" i="0" lang="en-US" sz="2300" u="none" cap="none" strike="noStrike">
                  <a:solidFill>
                    <a:srgbClr val="07241F"/>
                  </a:solidFill>
                  <a:latin typeface="Inter"/>
                  <a:ea typeface="Inter"/>
                  <a:cs typeface="Inter"/>
                  <a:sym typeface="Inter"/>
                </a:rPr>
                <a:t>Downtime Management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6410325" y="6056312"/>
              <a:ext cx="107250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52B"/>
                </a:buClr>
                <a:buSzPts val="2200"/>
                <a:buFont typeface="Inter"/>
                <a:buNone/>
              </a:pPr>
              <a:r>
                <a:rPr b="0" i="0" lang="en-US" sz="2200" u="none" cap="none" strike="noStrike">
                  <a:solidFill>
                    <a:srgbClr val="1E252B"/>
                  </a:solidFill>
                  <a:latin typeface="Inter"/>
                  <a:ea typeface="Inter"/>
                  <a:cs typeface="Inter"/>
                  <a:sym typeface="Inter"/>
                </a:rPr>
                <a:t>Prevent revenue and order losses to downtime &amp; inactivity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7" name="Google Shape;197;p9"/>
            <p:cNvCxnSpPr/>
            <p:nvPr/>
          </p:nvCxnSpPr>
          <p:spPr>
            <a:xfrm>
              <a:off x="5946900" y="5849000"/>
              <a:ext cx="0" cy="60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198" name="Google Shape;198;p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147750" y="5849000"/>
              <a:ext cx="600100" cy="6051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" name="Google Shape;199;p9"/>
          <p:cNvGrpSpPr/>
          <p:nvPr/>
        </p:nvGrpSpPr>
        <p:grpSpPr>
          <a:xfrm>
            <a:off x="762000" y="6193033"/>
            <a:ext cx="16764000" cy="968400"/>
            <a:chOff x="762000" y="6826238"/>
            <a:chExt cx="16764000" cy="968400"/>
          </a:xfrm>
        </p:grpSpPr>
        <p:sp>
          <p:nvSpPr>
            <p:cNvPr id="200" name="Google Shape;200;p9"/>
            <p:cNvSpPr/>
            <p:nvPr/>
          </p:nvSpPr>
          <p:spPr>
            <a:xfrm>
              <a:off x="762000" y="6826238"/>
              <a:ext cx="16764000" cy="968400"/>
            </a:xfrm>
            <a:prstGeom prst="roundRect">
              <a:avLst>
                <a:gd fmla="val 6906" name="adj"/>
              </a:avLst>
            </a:prstGeom>
            <a:solidFill>
              <a:schemeClr val="lt1"/>
            </a:solidFill>
            <a:ln cap="flat" cmpd="sng" w="9525">
              <a:solidFill>
                <a:srgbClr val="2CC2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2019300" y="7200900"/>
              <a:ext cx="35340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35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7241F"/>
                </a:buClr>
                <a:buSzPts val="2400"/>
                <a:buFont typeface="Inter"/>
                <a:buNone/>
              </a:pPr>
              <a:r>
                <a:rPr b="1" i="0" lang="en-US" sz="2300" u="none" cap="none" strike="noStrike">
                  <a:solidFill>
                    <a:srgbClr val="07241F"/>
                  </a:solidFill>
                  <a:latin typeface="Inter"/>
                  <a:ea typeface="Inter"/>
                  <a:cs typeface="Inter"/>
                  <a:sym typeface="Inter"/>
                </a:rPr>
                <a:t>Dispute Management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6410325" y="7215187"/>
              <a:ext cx="107250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52B"/>
                </a:buClr>
                <a:buSzPts val="2200"/>
                <a:buFont typeface="Inter"/>
                <a:buNone/>
              </a:pPr>
              <a:r>
                <a:rPr b="0" i="0" lang="en-US" sz="2200" u="none" cap="none" strike="noStrike">
                  <a:solidFill>
                    <a:srgbClr val="1E252B"/>
                  </a:solidFill>
                  <a:latin typeface="Inter"/>
                  <a:ea typeface="Inter"/>
                  <a:cs typeface="Inter"/>
                  <a:sym typeface="Inter"/>
                </a:rPr>
                <a:t>Recover revenue lost to order disputes and chargebacks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3" name="Google Shape;203;p9"/>
            <p:cNvCxnSpPr/>
            <p:nvPr/>
          </p:nvCxnSpPr>
          <p:spPr>
            <a:xfrm>
              <a:off x="5946900" y="7007900"/>
              <a:ext cx="0" cy="60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04" name="Google Shape;204;p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147750" y="7007887"/>
              <a:ext cx="600100" cy="6051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5" name="Google Shape;205;p9"/>
          <p:cNvGrpSpPr/>
          <p:nvPr/>
        </p:nvGrpSpPr>
        <p:grpSpPr>
          <a:xfrm>
            <a:off x="762000" y="7242198"/>
            <a:ext cx="16764000" cy="968400"/>
            <a:chOff x="762000" y="7985113"/>
            <a:chExt cx="16764000" cy="968400"/>
          </a:xfrm>
        </p:grpSpPr>
        <p:sp>
          <p:nvSpPr>
            <p:cNvPr id="206" name="Google Shape;206;p9"/>
            <p:cNvSpPr/>
            <p:nvPr/>
          </p:nvSpPr>
          <p:spPr>
            <a:xfrm>
              <a:off x="762000" y="7985113"/>
              <a:ext cx="16764000" cy="968400"/>
            </a:xfrm>
            <a:prstGeom prst="roundRect">
              <a:avLst>
                <a:gd fmla="val 6906" name="adj"/>
              </a:avLst>
            </a:prstGeom>
            <a:solidFill>
              <a:schemeClr val="lt1"/>
            </a:solidFill>
            <a:ln cap="flat" cmpd="sng" w="9525">
              <a:solidFill>
                <a:srgbClr val="2CC2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2019300" y="8359775"/>
              <a:ext cx="35340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35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7241F"/>
                </a:buClr>
                <a:buSzPts val="2400"/>
                <a:buFont typeface="Inter"/>
                <a:buNone/>
              </a:pPr>
              <a:r>
                <a:rPr b="1" i="0" lang="en-US" sz="2300" u="none" cap="none" strike="noStrike">
                  <a:solidFill>
                    <a:srgbClr val="07241F"/>
                  </a:solidFill>
                  <a:latin typeface="Inter"/>
                  <a:ea typeface="Inter"/>
                  <a:cs typeface="Inter"/>
                  <a:sym typeface="Inter"/>
                </a:rPr>
                <a:t>Financial Reconciliation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6410325" y="8374062"/>
              <a:ext cx="107250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52B"/>
                </a:buClr>
                <a:buSzPts val="2200"/>
                <a:buFont typeface="Inter"/>
                <a:buNone/>
              </a:pPr>
              <a:r>
                <a:rPr b="0" i="0" lang="en-US" sz="2200" u="none" cap="none" strike="noStrike">
                  <a:solidFill>
                    <a:srgbClr val="1E252B"/>
                  </a:solidFill>
                  <a:latin typeface="Inter"/>
                  <a:ea typeface="Inter"/>
                  <a:cs typeface="Inter"/>
                  <a:sym typeface="Inter"/>
                </a:rPr>
                <a:t>Consolidate, manage and breakdown your financial from the delivery platforms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9" name="Google Shape;209;p9"/>
            <p:cNvCxnSpPr/>
            <p:nvPr/>
          </p:nvCxnSpPr>
          <p:spPr>
            <a:xfrm>
              <a:off x="5946900" y="8166900"/>
              <a:ext cx="0" cy="60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10" name="Google Shape;210;p9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147750" y="8166712"/>
              <a:ext cx="600100" cy="6051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1" name="Google Shape;211;p9"/>
          <p:cNvGrpSpPr/>
          <p:nvPr/>
        </p:nvGrpSpPr>
        <p:grpSpPr>
          <a:xfrm>
            <a:off x="762000" y="8291363"/>
            <a:ext cx="16764000" cy="968400"/>
            <a:chOff x="762000" y="8291363"/>
            <a:chExt cx="16764000" cy="968400"/>
          </a:xfrm>
        </p:grpSpPr>
        <p:sp>
          <p:nvSpPr>
            <p:cNvPr id="212" name="Google Shape;212;p9"/>
            <p:cNvSpPr/>
            <p:nvPr/>
          </p:nvSpPr>
          <p:spPr>
            <a:xfrm>
              <a:off x="762000" y="8291363"/>
              <a:ext cx="16764000" cy="968400"/>
            </a:xfrm>
            <a:prstGeom prst="roundRect">
              <a:avLst>
                <a:gd fmla="val 6906" name="adj"/>
              </a:avLst>
            </a:prstGeom>
            <a:solidFill>
              <a:schemeClr val="lt1"/>
            </a:solidFill>
            <a:ln cap="flat" cmpd="sng" w="9525">
              <a:solidFill>
                <a:srgbClr val="2CC2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2019300" y="8666025"/>
              <a:ext cx="3775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35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7241F"/>
                </a:buClr>
                <a:buSzPts val="2400"/>
                <a:buFont typeface="Inter"/>
                <a:buNone/>
              </a:pPr>
              <a:r>
                <a:rPr b="1" lang="en-US" sz="2300">
                  <a:solidFill>
                    <a:srgbClr val="07241F"/>
                  </a:solidFill>
                  <a:latin typeface="Inter"/>
                  <a:ea typeface="Inter"/>
                  <a:cs typeface="Inter"/>
                  <a:sym typeface="Inter"/>
                </a:rPr>
                <a:t>SEO/Listing Management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6410325" y="8680312"/>
              <a:ext cx="107250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52B"/>
                </a:buClr>
                <a:buSzPts val="2200"/>
                <a:buFont typeface="Inter"/>
                <a:buNone/>
              </a:pPr>
              <a:r>
                <a:rPr lang="en-US" sz="2200">
                  <a:solidFill>
                    <a:srgbClr val="1E252B"/>
                  </a:solidFill>
                  <a:latin typeface="Inter"/>
                  <a:ea typeface="Inter"/>
                  <a:cs typeface="Inter"/>
                  <a:sym typeface="Inter"/>
                </a:rPr>
                <a:t>Boost local visibility and reviews with AI-powered SEO and listing management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5" name="Google Shape;215;p9"/>
            <p:cNvCxnSpPr/>
            <p:nvPr/>
          </p:nvCxnSpPr>
          <p:spPr>
            <a:xfrm>
              <a:off x="5946900" y="8473150"/>
              <a:ext cx="0" cy="60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16" name="Google Shape;216;p9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238525" y="8565825"/>
              <a:ext cx="418550" cy="4193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7" name="Google Shape;217;p9"/>
          <p:cNvGrpSpPr/>
          <p:nvPr/>
        </p:nvGrpSpPr>
        <p:grpSpPr>
          <a:xfrm>
            <a:off x="762000" y="3045540"/>
            <a:ext cx="16764000" cy="968400"/>
            <a:chOff x="762000" y="3349613"/>
            <a:chExt cx="16764000" cy="968400"/>
          </a:xfrm>
        </p:grpSpPr>
        <p:sp>
          <p:nvSpPr>
            <p:cNvPr id="218" name="Google Shape;218;p9"/>
            <p:cNvSpPr/>
            <p:nvPr/>
          </p:nvSpPr>
          <p:spPr>
            <a:xfrm>
              <a:off x="762000" y="3349613"/>
              <a:ext cx="16764000" cy="968400"/>
            </a:xfrm>
            <a:prstGeom prst="roundRect">
              <a:avLst>
                <a:gd fmla="val 6906" name="adj"/>
              </a:avLst>
            </a:prstGeom>
            <a:solidFill>
              <a:schemeClr val="lt1"/>
            </a:solidFill>
            <a:ln cap="flat" cmpd="sng" w="9525">
              <a:solidFill>
                <a:srgbClr val="2CC2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2019300" y="3724275"/>
              <a:ext cx="35340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35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7241F"/>
                </a:buClr>
                <a:buSzPts val="2400"/>
                <a:buFont typeface="Inter"/>
                <a:buNone/>
              </a:pPr>
              <a:r>
                <a:rPr b="1" i="0" lang="en-US" sz="2300" u="none" cap="none" strike="noStrike">
                  <a:solidFill>
                    <a:srgbClr val="07241F"/>
                  </a:solidFill>
                  <a:latin typeface="Inter"/>
                  <a:ea typeface="Inter"/>
                  <a:cs typeface="Inter"/>
                  <a:sym typeface="Inter"/>
                </a:rPr>
                <a:t>Surveys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6410325" y="3738563"/>
              <a:ext cx="102678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52B"/>
                </a:buClr>
                <a:buSzPts val="2200"/>
                <a:buFont typeface="Inter"/>
                <a:buNone/>
              </a:pPr>
              <a:r>
                <a:rPr b="0" i="0" lang="en-US" sz="2200" u="none" cap="none" strike="noStrike">
                  <a:solidFill>
                    <a:srgbClr val="1E252B"/>
                  </a:solidFill>
                  <a:latin typeface="Inter"/>
                  <a:ea typeface="Inter"/>
                  <a:cs typeface="Inter"/>
                  <a:sym typeface="Inter"/>
                </a:rPr>
                <a:t>Customized Surveys to Consolidate Customer Opinions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1" name="Google Shape;221;p9"/>
            <p:cNvCxnSpPr/>
            <p:nvPr/>
          </p:nvCxnSpPr>
          <p:spPr>
            <a:xfrm>
              <a:off x="5946900" y="3531263"/>
              <a:ext cx="0" cy="60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22" name="Google Shape;222;p9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147750" y="3536550"/>
              <a:ext cx="600100" cy="6051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>
            <a:off x="762000" y="1019175"/>
            <a:ext cx="121869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70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5400"/>
              <a:buFont typeface="Inter"/>
              <a:buNone/>
            </a:pPr>
            <a:r>
              <a:rPr b="1" lang="en-US" sz="54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Who are the best points of contact?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714725" y="2205775"/>
            <a:ext cx="7970400" cy="6780600"/>
          </a:xfrm>
          <a:prstGeom prst="roundRect">
            <a:avLst>
              <a:gd fmla="val 2063" name="adj"/>
            </a:avLst>
          </a:prstGeom>
          <a:solidFill>
            <a:schemeClr val="lt1"/>
          </a:solidFill>
          <a:ln cap="flat" cmpd="sng" w="9525">
            <a:solidFill>
              <a:srgbClr val="2CC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0" name="Google Shape;23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9677400"/>
            <a:ext cx="9810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/>
          <p:nvPr/>
        </p:nvSpPr>
        <p:spPr>
          <a:xfrm>
            <a:off x="13745775" y="9734550"/>
            <a:ext cx="30561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PROPRIETARY AND CONFIDENTIAL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17261398" y="9699300"/>
            <a:ext cx="26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33" name="Google Shape;233;p10"/>
          <p:cNvGrpSpPr/>
          <p:nvPr/>
        </p:nvGrpSpPr>
        <p:grpSpPr>
          <a:xfrm>
            <a:off x="1251939" y="2808075"/>
            <a:ext cx="6662040" cy="1113688"/>
            <a:chOff x="1219200" y="2749450"/>
            <a:chExt cx="4940700" cy="1113688"/>
          </a:xfrm>
        </p:grpSpPr>
        <p:sp>
          <p:nvSpPr>
            <p:cNvPr id="234" name="Google Shape;234;p10"/>
            <p:cNvSpPr/>
            <p:nvPr/>
          </p:nvSpPr>
          <p:spPr>
            <a:xfrm>
              <a:off x="1219208" y="2749450"/>
              <a:ext cx="35340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35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7241F"/>
                </a:buClr>
                <a:buSzPts val="2400"/>
                <a:buFont typeface="Inter"/>
                <a:buNone/>
              </a:pPr>
              <a:r>
                <a:rPr b="1" lang="en-US" sz="2800">
                  <a:solidFill>
                    <a:srgbClr val="07241F"/>
                  </a:solidFill>
                  <a:latin typeface="Inter"/>
                  <a:ea typeface="Inter"/>
                  <a:cs typeface="Inter"/>
                  <a:sym typeface="Inter"/>
                </a:rPr>
                <a:t>Financials &amp; Chargebacks</a:t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1219200" y="3180038"/>
              <a:ext cx="4940700" cy="6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52B"/>
                </a:buClr>
                <a:buSzPts val="2200"/>
                <a:buFont typeface="Inter"/>
                <a:buNone/>
              </a:pPr>
              <a:r>
                <a:rPr lang="en-US" sz="2000">
                  <a:solidFill>
                    <a:srgbClr val="1E252B"/>
                  </a:solidFill>
                  <a:latin typeface="Inter"/>
                  <a:ea typeface="Inter"/>
                  <a:cs typeface="Inter"/>
                  <a:sym typeface="Inter"/>
                </a:rPr>
                <a:t>Individuals that will focus on the financials of the business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10"/>
          <p:cNvGrpSpPr/>
          <p:nvPr/>
        </p:nvGrpSpPr>
        <p:grpSpPr>
          <a:xfrm>
            <a:off x="1251875" y="4513863"/>
            <a:ext cx="6990600" cy="1620963"/>
            <a:chOff x="1219213" y="4288075"/>
            <a:chExt cx="6990600" cy="1620963"/>
          </a:xfrm>
        </p:grpSpPr>
        <p:sp>
          <p:nvSpPr>
            <p:cNvPr id="237" name="Google Shape;237;p10"/>
            <p:cNvSpPr/>
            <p:nvPr/>
          </p:nvSpPr>
          <p:spPr>
            <a:xfrm>
              <a:off x="1219213" y="4288075"/>
              <a:ext cx="6990600" cy="74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35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7241F"/>
                </a:buClr>
                <a:buSzPts val="2400"/>
                <a:buFont typeface="Inter"/>
                <a:buNone/>
              </a:pPr>
              <a:r>
                <a:rPr b="1" lang="en-US" sz="2800">
                  <a:solidFill>
                    <a:srgbClr val="07241F"/>
                  </a:solidFill>
                  <a:latin typeface="Inter"/>
                  <a:ea typeface="Inter"/>
                  <a:cs typeface="Inter"/>
                  <a:sym typeface="Inter"/>
                </a:rPr>
                <a:t>Third Party Delivery Tools </a:t>
              </a:r>
              <a:endParaRPr b="1" sz="28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35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7241F"/>
                </a:buClr>
                <a:buSzPts val="2400"/>
                <a:buFont typeface="Inter"/>
                <a:buNone/>
              </a:pPr>
              <a:r>
                <a:rPr b="1" lang="en-US" sz="2800">
                  <a:solidFill>
                    <a:srgbClr val="07241F"/>
                  </a:solidFill>
                  <a:latin typeface="Inter"/>
                  <a:ea typeface="Inter"/>
                  <a:cs typeface="Inter"/>
                  <a:sym typeface="Inter"/>
                </a:rPr>
                <a:t>(Reviews, Downtime, Insights)</a:t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0"/>
            <p:cNvSpPr/>
            <p:nvPr/>
          </p:nvSpPr>
          <p:spPr>
            <a:xfrm>
              <a:off x="1219214" y="5225938"/>
              <a:ext cx="5621100" cy="6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52B"/>
                </a:buClr>
                <a:buSzPts val="2200"/>
                <a:buFont typeface="Inter"/>
                <a:buNone/>
              </a:pPr>
              <a:r>
                <a:rPr lang="en-US" sz="2000">
                  <a:solidFill>
                    <a:srgbClr val="1E252B"/>
                  </a:solidFill>
                  <a:latin typeface="Inter"/>
                  <a:ea typeface="Inter"/>
                  <a:cs typeface="Inter"/>
                  <a:sym typeface="Inter"/>
                </a:rPr>
                <a:t>Access to 3PD portals and can assist in setting up integrations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10"/>
          <p:cNvGrpSpPr/>
          <p:nvPr/>
        </p:nvGrpSpPr>
        <p:grpSpPr>
          <a:xfrm>
            <a:off x="1251875" y="6876544"/>
            <a:ext cx="6557400" cy="1620945"/>
            <a:chOff x="1219213" y="6734375"/>
            <a:chExt cx="6557400" cy="1430414"/>
          </a:xfrm>
        </p:grpSpPr>
        <p:sp>
          <p:nvSpPr>
            <p:cNvPr id="240" name="Google Shape;240;p10"/>
            <p:cNvSpPr/>
            <p:nvPr/>
          </p:nvSpPr>
          <p:spPr>
            <a:xfrm>
              <a:off x="1219213" y="6734375"/>
              <a:ext cx="6557400" cy="6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35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7241F"/>
                </a:buClr>
                <a:buSzPts val="2400"/>
                <a:buFont typeface="Inter"/>
                <a:buNone/>
              </a:pPr>
              <a:r>
                <a:rPr b="1" lang="en-US" sz="2800">
                  <a:solidFill>
                    <a:srgbClr val="07241F"/>
                  </a:solidFill>
                  <a:latin typeface="Inter"/>
                  <a:ea typeface="Inter"/>
                  <a:cs typeface="Inter"/>
                  <a:sym typeface="Inter"/>
                </a:rPr>
                <a:t>Guest Experience &amp; </a:t>
              </a:r>
              <a:endParaRPr b="1" sz="28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35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7241F"/>
                </a:buClr>
                <a:buSzPts val="2400"/>
                <a:buFont typeface="Inter"/>
                <a:buNone/>
              </a:pPr>
              <a:r>
                <a:rPr b="1" lang="en-US" sz="2800">
                  <a:solidFill>
                    <a:srgbClr val="07241F"/>
                  </a:solidFill>
                  <a:latin typeface="Inter"/>
                  <a:ea typeface="Inter"/>
                  <a:cs typeface="Inter"/>
                  <a:sym typeface="Inter"/>
                </a:rPr>
                <a:t>Reputation Management</a:t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0"/>
            <p:cNvSpPr/>
            <p:nvPr/>
          </p:nvSpPr>
          <p:spPr>
            <a:xfrm>
              <a:off x="1219287" y="7481689"/>
              <a:ext cx="6039300" cy="6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52B"/>
                </a:buClr>
                <a:buSzPts val="2200"/>
                <a:buFont typeface="Inter"/>
                <a:buNone/>
              </a:pPr>
              <a:r>
                <a:rPr lang="en-US" sz="2000">
                  <a:solidFill>
                    <a:srgbClr val="1E252B"/>
                  </a:solidFill>
                  <a:latin typeface="Inter"/>
                  <a:ea typeface="Inter"/>
                  <a:cs typeface="Inter"/>
                  <a:sym typeface="Inter"/>
                </a:rPr>
                <a:t>Guest experience decision makers that can set templates and promos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42" name="Google Shape;242;p10"/>
          <p:cNvCxnSpPr/>
          <p:nvPr/>
        </p:nvCxnSpPr>
        <p:spPr>
          <a:xfrm rot="10800000">
            <a:off x="1251938" y="4224300"/>
            <a:ext cx="6990600" cy="0"/>
          </a:xfrm>
          <a:prstGeom prst="straightConnector1">
            <a:avLst/>
          </a:prstGeom>
          <a:noFill/>
          <a:ln cap="flat" cmpd="sng" w="9525">
            <a:solidFill>
              <a:srgbClr val="2CC2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10"/>
          <p:cNvCxnSpPr/>
          <p:nvPr/>
        </p:nvCxnSpPr>
        <p:spPr>
          <a:xfrm rot="10800000">
            <a:off x="1251938" y="6572225"/>
            <a:ext cx="6990600" cy="0"/>
          </a:xfrm>
          <a:prstGeom prst="straightConnector1">
            <a:avLst/>
          </a:prstGeom>
          <a:noFill/>
          <a:ln cap="flat" cmpd="sng" w="9525">
            <a:solidFill>
              <a:srgbClr val="2CC27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10"/>
          <p:cNvSpPr/>
          <p:nvPr/>
        </p:nvSpPr>
        <p:spPr>
          <a:xfrm>
            <a:off x="9555600" y="2216738"/>
            <a:ext cx="7970400" cy="6780600"/>
          </a:xfrm>
          <a:prstGeom prst="roundRect">
            <a:avLst>
              <a:gd fmla="val 2063" name="adj"/>
            </a:avLst>
          </a:prstGeom>
          <a:solidFill>
            <a:schemeClr val="lt1"/>
          </a:solidFill>
          <a:ln cap="flat" cmpd="sng" w="9525">
            <a:solidFill>
              <a:srgbClr val="2CC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9990181" y="2717150"/>
            <a:ext cx="63654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58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400"/>
              <a:buFont typeface="Inter"/>
              <a:buNone/>
            </a:pPr>
            <a:r>
              <a:rPr b="1" lang="en-US" sz="20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Financials &amp; Chargebacks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9990150" y="3129675"/>
            <a:ext cx="717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600"/>
              <a:buFont typeface="Inter"/>
              <a:buChar char="●"/>
            </a:pPr>
            <a:r>
              <a:rPr lang="en-US" sz="1600">
                <a:solidFill>
                  <a:srgbClr val="1E252B"/>
                </a:solidFill>
                <a:latin typeface="Inter"/>
                <a:ea typeface="Inter"/>
                <a:cs typeface="Inter"/>
                <a:sym typeface="Inter"/>
              </a:rPr>
              <a:t>Person 1</a:t>
            </a:r>
            <a:endParaRPr sz="1600">
              <a:solidFill>
                <a:srgbClr val="1E25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600"/>
              <a:buFont typeface="Inter"/>
              <a:buChar char="●"/>
            </a:pPr>
            <a:r>
              <a:rPr lang="en-US" sz="1600">
                <a:solidFill>
                  <a:srgbClr val="1E252B"/>
                </a:solidFill>
                <a:latin typeface="Inter"/>
                <a:ea typeface="Inter"/>
                <a:cs typeface="Inter"/>
                <a:sym typeface="Inter"/>
              </a:rPr>
              <a:t>Person 2</a:t>
            </a:r>
            <a:endParaRPr sz="1600">
              <a:solidFill>
                <a:srgbClr val="1E25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600"/>
              <a:buFont typeface="Inter"/>
              <a:buChar char="●"/>
            </a:pPr>
            <a:r>
              <a:rPr lang="en-US" sz="1600">
                <a:solidFill>
                  <a:srgbClr val="1E252B"/>
                </a:solidFill>
                <a:latin typeface="Inter"/>
                <a:ea typeface="Inter"/>
                <a:cs typeface="Inter"/>
                <a:sym typeface="Inter"/>
              </a:rPr>
              <a:t>Person 3</a:t>
            </a:r>
            <a:endParaRPr sz="1600">
              <a:solidFill>
                <a:srgbClr val="1E25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52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9990181" y="4224300"/>
            <a:ext cx="63654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58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400"/>
              <a:buFont typeface="Inter"/>
              <a:buNone/>
            </a:pPr>
            <a:r>
              <a:rPr b="1" lang="en-US" sz="20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Third Party Delivery Tools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9990181" y="5834650"/>
            <a:ext cx="63654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58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400"/>
              <a:buFont typeface="Inter"/>
              <a:buNone/>
            </a:pPr>
            <a:r>
              <a:rPr b="1" lang="en-US" sz="20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Guest Experience &amp; Reputation </a:t>
            </a:r>
            <a:r>
              <a:rPr b="1" lang="en-US" sz="20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Management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9990150" y="4686300"/>
            <a:ext cx="717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600"/>
              <a:buFont typeface="Inter"/>
              <a:buChar char="●"/>
            </a:pPr>
            <a:r>
              <a:rPr lang="en-US" sz="1600">
                <a:solidFill>
                  <a:srgbClr val="1E252B"/>
                </a:solidFill>
                <a:latin typeface="Inter"/>
                <a:ea typeface="Inter"/>
                <a:cs typeface="Inter"/>
                <a:sym typeface="Inter"/>
              </a:rPr>
              <a:t>Person 1</a:t>
            </a:r>
            <a:endParaRPr sz="1600">
              <a:solidFill>
                <a:srgbClr val="1E25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600"/>
              <a:buFont typeface="Inter"/>
              <a:buChar char="●"/>
            </a:pPr>
            <a:r>
              <a:rPr lang="en-US" sz="1600">
                <a:solidFill>
                  <a:srgbClr val="1E252B"/>
                </a:solidFill>
                <a:latin typeface="Inter"/>
                <a:ea typeface="Inter"/>
                <a:cs typeface="Inter"/>
                <a:sym typeface="Inter"/>
              </a:rPr>
              <a:t>Person 2</a:t>
            </a:r>
            <a:endParaRPr sz="1600">
              <a:solidFill>
                <a:srgbClr val="1E25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600"/>
              <a:buFont typeface="Inter"/>
              <a:buChar char="●"/>
            </a:pPr>
            <a:r>
              <a:rPr lang="en-US" sz="1600">
                <a:solidFill>
                  <a:srgbClr val="1E252B"/>
                </a:solidFill>
                <a:latin typeface="Inter"/>
                <a:ea typeface="Inter"/>
                <a:cs typeface="Inter"/>
                <a:sym typeface="Inter"/>
              </a:rPr>
              <a:t>Person 3</a:t>
            </a:r>
            <a:endParaRPr sz="1600">
              <a:solidFill>
                <a:srgbClr val="1E25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52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9990150" y="6242925"/>
            <a:ext cx="717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600"/>
              <a:buFont typeface="Inter"/>
              <a:buChar char="●"/>
            </a:pPr>
            <a:r>
              <a:rPr lang="en-US" sz="1600">
                <a:solidFill>
                  <a:srgbClr val="1E252B"/>
                </a:solidFill>
                <a:latin typeface="Inter"/>
                <a:ea typeface="Inter"/>
                <a:cs typeface="Inter"/>
                <a:sym typeface="Inter"/>
              </a:rPr>
              <a:t>Person 1</a:t>
            </a:r>
            <a:endParaRPr sz="1600">
              <a:solidFill>
                <a:srgbClr val="1E25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600"/>
              <a:buFont typeface="Inter"/>
              <a:buChar char="●"/>
            </a:pPr>
            <a:r>
              <a:rPr lang="en-US" sz="1600">
                <a:solidFill>
                  <a:srgbClr val="1E252B"/>
                </a:solidFill>
                <a:latin typeface="Inter"/>
                <a:ea typeface="Inter"/>
                <a:cs typeface="Inter"/>
                <a:sym typeface="Inter"/>
              </a:rPr>
              <a:t>Person 2</a:t>
            </a:r>
            <a:endParaRPr sz="1600">
              <a:solidFill>
                <a:srgbClr val="1E25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600"/>
              <a:buFont typeface="Inter"/>
              <a:buChar char="●"/>
            </a:pPr>
            <a:r>
              <a:rPr lang="en-US" sz="1600">
                <a:solidFill>
                  <a:srgbClr val="1E252B"/>
                </a:solidFill>
                <a:latin typeface="Inter"/>
                <a:ea typeface="Inter"/>
                <a:cs typeface="Inter"/>
                <a:sym typeface="Inter"/>
              </a:rPr>
              <a:t>Person 3</a:t>
            </a:r>
            <a:endParaRPr sz="1600">
              <a:solidFill>
                <a:srgbClr val="1E25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52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"/>
          <p:cNvSpPr/>
          <p:nvPr/>
        </p:nvSpPr>
        <p:spPr>
          <a:xfrm>
            <a:off x="762000" y="2177425"/>
            <a:ext cx="16764000" cy="6804600"/>
          </a:xfrm>
          <a:prstGeom prst="roundRect">
            <a:avLst>
              <a:gd fmla="val 2063" name="adj"/>
            </a:avLst>
          </a:prstGeom>
          <a:solidFill>
            <a:schemeClr val="lt1"/>
          </a:solidFill>
          <a:ln cap="flat" cmpd="sng" w="9525">
            <a:solidFill>
              <a:srgbClr val="2CC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7" name="Google Shape;25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8" name="Google Shape;25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9677400"/>
            <a:ext cx="9810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1"/>
          <p:cNvSpPr/>
          <p:nvPr/>
        </p:nvSpPr>
        <p:spPr>
          <a:xfrm>
            <a:off x="13745775" y="9734550"/>
            <a:ext cx="30561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PROPRIETARY AND CONFIDENTIAL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17261398" y="9699300"/>
            <a:ext cx="26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762000" y="1019175"/>
            <a:ext cx="101346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70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5400"/>
              <a:buFont typeface="Inter"/>
              <a:buNone/>
            </a:pPr>
            <a:r>
              <a:rPr b="1" lang="en-US" sz="54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Third-Party Integration Steps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6050" y="2634625"/>
            <a:ext cx="2675226" cy="3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1"/>
          <p:cNvSpPr/>
          <p:nvPr/>
        </p:nvSpPr>
        <p:spPr>
          <a:xfrm>
            <a:off x="1307425" y="3342900"/>
            <a:ext cx="15665400" cy="5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Please add </a:t>
            </a:r>
            <a:r>
              <a:rPr b="1" lang="en-US" sz="2400"/>
              <a:t>[Insert HQ 1] </a:t>
            </a:r>
            <a:r>
              <a:rPr lang="en-US" sz="2400"/>
              <a:t>and </a:t>
            </a:r>
            <a:r>
              <a:rPr b="1" lang="en-US" sz="2400"/>
              <a:t>[Insert HQ 2]</a:t>
            </a:r>
            <a:r>
              <a:rPr b="1" lang="en-US" sz="2400"/>
              <a:t> </a:t>
            </a:r>
            <a:r>
              <a:rPr lang="en-US" sz="2400"/>
              <a:t>as users with Admin access on your DoorDash account for all locations.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First Name: </a:t>
            </a:r>
            <a:r>
              <a:rPr b="1" lang="en-US" sz="2400"/>
              <a:t>Deal Name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Last Name: </a:t>
            </a:r>
            <a:r>
              <a:rPr b="1" lang="en-US" sz="2400"/>
              <a:t>HQ</a:t>
            </a:r>
            <a:endParaRPr sz="2400">
              <a:solidFill>
                <a:srgbClr val="1E25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E252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9" name="Google Shape;2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0" name="Google Shape;27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9677400"/>
            <a:ext cx="9810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2"/>
          <p:cNvSpPr/>
          <p:nvPr/>
        </p:nvSpPr>
        <p:spPr>
          <a:xfrm>
            <a:off x="13745775" y="9734550"/>
            <a:ext cx="30561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PROPRIETARY AND CONFIDENTIAL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12"/>
          <p:cNvSpPr txBox="1"/>
          <p:nvPr/>
        </p:nvSpPr>
        <p:spPr>
          <a:xfrm>
            <a:off x="17261398" y="9699300"/>
            <a:ext cx="26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762000" y="1019175"/>
            <a:ext cx="120267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70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5400"/>
              <a:buFont typeface="Inter"/>
              <a:buNone/>
            </a:pPr>
            <a:r>
              <a:rPr b="1" lang="en-US" sz="54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Third-Party Integration Steps Cont.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670825" y="2193788"/>
            <a:ext cx="16764000" cy="6804600"/>
          </a:xfrm>
          <a:prstGeom prst="roundRect">
            <a:avLst>
              <a:gd fmla="val 2063" name="adj"/>
            </a:avLst>
          </a:prstGeom>
          <a:solidFill>
            <a:schemeClr val="lt1"/>
          </a:solidFill>
          <a:ln cap="flat" cmpd="sng" w="9525">
            <a:solidFill>
              <a:srgbClr val="2CC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7425" y="2649825"/>
            <a:ext cx="1922330" cy="3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2"/>
          <p:cNvSpPr/>
          <p:nvPr/>
        </p:nvSpPr>
        <p:spPr>
          <a:xfrm>
            <a:off x="1307425" y="3342900"/>
            <a:ext cx="15665400" cy="5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Please add </a:t>
            </a:r>
            <a:r>
              <a:rPr b="1" lang="en-US" sz="2400"/>
              <a:t>[Insert HQ 1] </a:t>
            </a:r>
            <a:r>
              <a:rPr lang="en-US" sz="2400"/>
              <a:t>and </a:t>
            </a:r>
            <a:r>
              <a:rPr b="1" lang="en-US" sz="2400"/>
              <a:t>[Insert HQ 2]</a:t>
            </a:r>
            <a:r>
              <a:rPr b="1" lang="en-US" sz="2400"/>
              <a:t> </a:t>
            </a:r>
            <a:r>
              <a:rPr lang="en-US" sz="2400"/>
              <a:t>as users with Manager access on your UberEats account for all locations.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First Name: </a:t>
            </a:r>
            <a:r>
              <a:rPr b="1" lang="en-US" sz="2400"/>
              <a:t>Deal Name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Last Name: </a:t>
            </a:r>
            <a:r>
              <a:rPr b="1" lang="en-US" sz="2400"/>
              <a:t>HQ</a:t>
            </a:r>
            <a:endParaRPr sz="2400">
              <a:solidFill>
                <a:srgbClr val="1E25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E252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2" name="Google Shape;2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3" name="Google Shape;28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9677400"/>
            <a:ext cx="9810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3"/>
          <p:cNvSpPr/>
          <p:nvPr/>
        </p:nvSpPr>
        <p:spPr>
          <a:xfrm>
            <a:off x="13745775" y="9734550"/>
            <a:ext cx="30561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PROPRIETARY AND CONFIDENTIAL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13"/>
          <p:cNvSpPr txBox="1"/>
          <p:nvPr/>
        </p:nvSpPr>
        <p:spPr>
          <a:xfrm>
            <a:off x="17261398" y="9699300"/>
            <a:ext cx="26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762000" y="2177425"/>
            <a:ext cx="16764000" cy="6804600"/>
          </a:xfrm>
          <a:prstGeom prst="roundRect">
            <a:avLst>
              <a:gd fmla="val 2063" name="adj"/>
            </a:avLst>
          </a:prstGeom>
          <a:solidFill>
            <a:schemeClr val="lt1"/>
          </a:solidFill>
          <a:ln cap="flat" cmpd="sng" w="9525">
            <a:solidFill>
              <a:srgbClr val="2CC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762000" y="1019175"/>
            <a:ext cx="120267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70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5400"/>
              <a:buFont typeface="Inter"/>
              <a:buNone/>
            </a:pPr>
            <a:r>
              <a:rPr b="1" lang="en-US" sz="54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Third-Party Integration Steps Cont.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6050" y="2515276"/>
            <a:ext cx="1759037" cy="4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3"/>
          <p:cNvSpPr/>
          <p:nvPr/>
        </p:nvSpPr>
        <p:spPr>
          <a:xfrm>
            <a:off x="1307425" y="3342900"/>
            <a:ext cx="15665400" cy="5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Please add </a:t>
            </a:r>
            <a:r>
              <a:rPr b="1" lang="en-US" sz="2400"/>
              <a:t>[Insert HQ 1] </a:t>
            </a:r>
            <a:r>
              <a:rPr lang="en-US" sz="2400"/>
              <a:t>and </a:t>
            </a:r>
            <a:r>
              <a:rPr b="1" lang="en-US" sz="2400"/>
              <a:t>[Insert HQ 2]</a:t>
            </a:r>
            <a:r>
              <a:rPr b="1" lang="en-US" sz="2400"/>
              <a:t> </a:t>
            </a:r>
            <a:r>
              <a:rPr lang="en-US" sz="2400"/>
              <a:t>as users with Admin access on your Grubhub account for all locations.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First Name: </a:t>
            </a:r>
            <a:r>
              <a:rPr b="1" lang="en-US" sz="2400"/>
              <a:t>Deal Name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Last Name: </a:t>
            </a:r>
            <a:r>
              <a:rPr b="1" lang="en-US" sz="2400"/>
              <a:t>HQ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Password: </a:t>
            </a:r>
            <a:r>
              <a:rPr b="1" lang="en-US" sz="2400"/>
              <a:t>SuperorderDisputes1234!</a:t>
            </a:r>
            <a:endParaRPr b="1" sz="2400"/>
          </a:p>
          <a:p>
            <a:pPr indent="0" lvl="0" marL="0" rtl="0"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E252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5" name="Google Shape;2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581" y="2809875"/>
            <a:ext cx="4076702" cy="616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6" name="Google Shape;2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09875"/>
            <a:ext cx="4077863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7" name="Google Shape;2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2156" y="2809875"/>
            <a:ext cx="4076702" cy="616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8" name="Google Shape;2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2198" y="2809875"/>
            <a:ext cx="4077863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9" name="Google Shape;2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11256" y="2809875"/>
            <a:ext cx="4076702" cy="616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0" name="Google Shape;3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09512" y="2809875"/>
            <a:ext cx="4077864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1" name="Google Shape;3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78456" y="2809875"/>
            <a:ext cx="4076702" cy="616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2" name="Google Shape;3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77875" y="2809875"/>
            <a:ext cx="4077863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3" name="Google Shape;3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18288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4" name="Google Shape;3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9677400"/>
            <a:ext cx="9810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5" name="Google Shape;3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774313" y="3933825"/>
            <a:ext cx="3486152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6" name="Google Shape;30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38044" y="2113787"/>
            <a:ext cx="4340279" cy="649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7" name="Google Shape;30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67144" y="2113787"/>
            <a:ext cx="4330753" cy="649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8" name="Google Shape;308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86716" y="2113787"/>
            <a:ext cx="4292654" cy="649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9" name="Google Shape;309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5265975" y="2104588"/>
            <a:ext cx="1263704" cy="6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4"/>
          <p:cNvSpPr/>
          <p:nvPr/>
        </p:nvSpPr>
        <p:spPr>
          <a:xfrm>
            <a:off x="762000" y="1000125"/>
            <a:ext cx="107634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70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5400"/>
              <a:buFont typeface="Inter"/>
              <a:buNone/>
            </a:pPr>
            <a:r>
              <a:rPr b="1" i="0" lang="en-US" sz="5400" u="none" cap="none" strike="noStrike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Implementation Plan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1152525" y="3038475"/>
            <a:ext cx="1112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1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TODAY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5303779" y="3038475"/>
            <a:ext cx="192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1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1-2 weeks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9560477" y="3038475"/>
            <a:ext cx="21513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1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2-3 weeks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13856703" y="3038475"/>
            <a:ext cx="1753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1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Success!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1000550" y="4010063"/>
            <a:ext cx="35436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58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Integration Call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5258250" y="4643550"/>
            <a:ext cx="3534000" cy="18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E25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Superorder Action Items</a:t>
            </a:r>
            <a:endParaRPr sz="2000">
              <a:solidFill>
                <a:srgbClr val="1E252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400"/>
              <a:buChar char="●"/>
            </a:pPr>
            <a:r>
              <a:rPr lang="en-US" sz="1800">
                <a:solidFill>
                  <a:srgbClr val="1E252B"/>
                </a:solidFill>
                <a:latin typeface="Inter"/>
                <a:ea typeface="Inter"/>
                <a:cs typeface="Inter"/>
                <a:sym typeface="Inter"/>
              </a:rPr>
              <a:t>Use the new users created to build the Superorder Dashboard &amp; setup the account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1088664" y="4616063"/>
            <a:ext cx="353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E25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Your </a:t>
            </a:r>
            <a:r>
              <a:rPr b="0" i="0" lang="en-US" sz="2000" u="none" cap="none" strike="noStrike">
                <a:solidFill>
                  <a:srgbClr val="1E25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Action Items</a:t>
            </a:r>
            <a:endParaRPr sz="2000">
              <a:solidFill>
                <a:srgbClr val="1E252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400"/>
              <a:buChar char="●"/>
            </a:pPr>
            <a:r>
              <a:rPr lang="en-US" sz="1800">
                <a:solidFill>
                  <a:srgbClr val="1E252B"/>
                </a:solidFill>
                <a:latin typeface="Inter"/>
                <a:ea typeface="Inter"/>
                <a:cs typeface="Inter"/>
                <a:sym typeface="Inter"/>
              </a:rPr>
              <a:t>Complete addition of users to third party platform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5248963" y="4010063"/>
            <a:ext cx="35526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58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Build Dashboard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5253475" y="6451650"/>
            <a:ext cx="3543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1E25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Second Party &amp; Surveys</a:t>
            </a:r>
            <a:endParaRPr i="1" sz="2000">
              <a:solidFill>
                <a:srgbClr val="1E252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400"/>
              <a:buChar char="●"/>
            </a:pPr>
            <a:r>
              <a:rPr i="1" lang="en-US" sz="1800">
                <a:solidFill>
                  <a:srgbClr val="1E252B"/>
                </a:solidFill>
                <a:latin typeface="Inter"/>
                <a:ea typeface="Inter"/>
                <a:cs typeface="Inter"/>
                <a:sym typeface="Inter"/>
              </a:rPr>
              <a:t>Send onboarding instructions to complete integrations</a:t>
            </a:r>
            <a:endParaRPr b="0" i="1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9496850" y="4010063"/>
            <a:ext cx="35436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58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Training Call(s)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9368350" y="4655325"/>
            <a:ext cx="3534000" cy="24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E25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Department Trainings</a:t>
            </a:r>
            <a:endParaRPr sz="2000">
              <a:solidFill>
                <a:srgbClr val="1E252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400"/>
              <a:buChar char="●"/>
            </a:pPr>
            <a:r>
              <a:rPr lang="en-US" sz="1800">
                <a:solidFill>
                  <a:srgbClr val="1E252B"/>
                </a:solidFill>
                <a:latin typeface="Inter"/>
                <a:ea typeface="Inter"/>
                <a:cs typeface="Inter"/>
                <a:sym typeface="Inter"/>
              </a:rPr>
              <a:t>Set up training calls with various </a:t>
            </a:r>
            <a:r>
              <a:rPr lang="en-US" sz="1800">
                <a:solidFill>
                  <a:srgbClr val="1E252B"/>
                </a:solidFill>
                <a:latin typeface="Inter"/>
                <a:ea typeface="Inter"/>
                <a:cs typeface="Inter"/>
                <a:sym typeface="Inter"/>
              </a:rPr>
              <a:t>decision</a:t>
            </a:r>
            <a:r>
              <a:rPr lang="en-US" sz="1800">
                <a:solidFill>
                  <a:srgbClr val="1E252B"/>
                </a:solidFill>
                <a:latin typeface="Inter"/>
                <a:ea typeface="Inter"/>
                <a:cs typeface="Inter"/>
                <a:sym typeface="Inter"/>
              </a:rPr>
              <a:t> makers for the Operations team, Marketing team, Accounting team, etc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13669750" y="3973806"/>
            <a:ext cx="35436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58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Onboarding Complete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13706950" y="4643400"/>
            <a:ext cx="3534000" cy="21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E25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Check-ins &amp; Results</a:t>
            </a:r>
            <a:endParaRPr sz="2000">
              <a:solidFill>
                <a:srgbClr val="1E252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400"/>
              <a:buChar char="●"/>
            </a:pPr>
            <a:r>
              <a:rPr lang="en-US" sz="1800">
                <a:solidFill>
                  <a:srgbClr val="1E252B"/>
                </a:solidFill>
                <a:latin typeface="Inter"/>
                <a:ea typeface="Inter"/>
                <a:cs typeface="Inter"/>
                <a:sym typeface="Inter"/>
              </a:rPr>
              <a:t>Schedule regular check-ins and discuss results after being active for 30 days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13745775" y="9734550"/>
            <a:ext cx="30561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PROPRIETARY AND CONFIDENTIAL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17261398" y="9699300"/>
            <a:ext cx="26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326" name="Google Shape;326;p14"/>
          <p:cNvPicPr preferRelativeResize="0"/>
          <p:nvPr/>
        </p:nvPicPr>
        <p:blipFill rotWithShape="1">
          <a:blip r:embed="rId14">
            <a:alphaModFix/>
          </a:blip>
          <a:srcRect b="38910" l="0" r="0" t="58166"/>
          <a:stretch/>
        </p:blipFill>
        <p:spPr>
          <a:xfrm>
            <a:off x="1039375" y="4414688"/>
            <a:ext cx="3495675" cy="1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7" name="Google Shape;327;p14"/>
          <p:cNvPicPr preferRelativeResize="0"/>
          <p:nvPr/>
        </p:nvPicPr>
        <p:blipFill rotWithShape="1">
          <a:blip r:embed="rId14">
            <a:alphaModFix/>
          </a:blip>
          <a:srcRect b="38910" l="0" r="0" t="58166"/>
          <a:stretch/>
        </p:blipFill>
        <p:spPr>
          <a:xfrm>
            <a:off x="5277425" y="4419225"/>
            <a:ext cx="3495675" cy="1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8" name="Google Shape;328;p14"/>
          <p:cNvPicPr preferRelativeResize="0"/>
          <p:nvPr/>
        </p:nvPicPr>
        <p:blipFill rotWithShape="1">
          <a:blip r:embed="rId14">
            <a:alphaModFix/>
          </a:blip>
          <a:srcRect b="38910" l="0" r="0" t="58166"/>
          <a:stretch/>
        </p:blipFill>
        <p:spPr>
          <a:xfrm>
            <a:off x="9520813" y="4419225"/>
            <a:ext cx="3495675" cy="1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9" name="Google Shape;329;p14"/>
          <p:cNvPicPr preferRelativeResize="0"/>
          <p:nvPr/>
        </p:nvPicPr>
        <p:blipFill rotWithShape="1">
          <a:blip r:embed="rId14">
            <a:alphaModFix/>
          </a:blip>
          <a:srcRect b="38910" l="0" r="0" t="58166"/>
          <a:stretch/>
        </p:blipFill>
        <p:spPr>
          <a:xfrm>
            <a:off x="13726088" y="4414700"/>
            <a:ext cx="3495675" cy="1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8650" y="3448063"/>
            <a:ext cx="5457825" cy="31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0325" y="3448050"/>
            <a:ext cx="5457825" cy="31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3448063"/>
            <a:ext cx="5457825" cy="31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471" y="5398369"/>
            <a:ext cx="3038884" cy="5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9796" y="5398369"/>
            <a:ext cx="3038884" cy="5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68121" y="5398369"/>
            <a:ext cx="3038884" cy="59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1" name="Google Shape;34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8288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2" name="Google Shape;34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9677400"/>
            <a:ext cx="9810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3" name="Google Shape;34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1885950"/>
            <a:ext cx="16754475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4" name="Google Shape;34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6800850"/>
            <a:ext cx="16754475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5" name="Google Shape;34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81175" y="7296150"/>
            <a:ext cx="14716129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5"/>
          <p:cNvSpPr/>
          <p:nvPr/>
        </p:nvSpPr>
        <p:spPr>
          <a:xfrm>
            <a:off x="762000" y="1000125"/>
            <a:ext cx="107634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70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5400"/>
              <a:buFont typeface="Inter"/>
              <a:buNone/>
            </a:pPr>
            <a:r>
              <a:rPr b="1" i="0" lang="en-US" sz="5400" u="none" cap="none" strike="noStrike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Help Resources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6415055" y="2447925"/>
            <a:ext cx="5457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96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nter SemiBold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Help Center Main Page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2077325" y="4140150"/>
            <a:ext cx="28272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58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General business support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2814638" y="5617369"/>
            <a:ext cx="141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36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600"/>
              <a:buFont typeface="Inter"/>
              <a:buNone/>
            </a:pPr>
            <a:r>
              <a:rPr b="1" i="0" lang="en-US" sz="16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10"/>
              </a:rPr>
              <a:t>Common FAQ</a:t>
            </a:r>
            <a:endParaRPr b="0" i="0" sz="1600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7212213" y="4140150"/>
            <a:ext cx="38538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58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General Billing </a:t>
            </a:r>
            <a:br>
              <a:rPr b="1" i="0" lang="en-US" sz="2400" u="none" cap="none" strike="noStrike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2400" u="none" cap="none" strike="noStrike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Questions answered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8615363" y="5617369"/>
            <a:ext cx="1095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36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600"/>
              <a:buFont typeface="Inter"/>
              <a:buNone/>
            </a:pPr>
            <a:r>
              <a:rPr b="1" i="0" lang="en-US" sz="16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11"/>
              </a:rPr>
              <a:t>Billing FAQ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12592050" y="3954419"/>
            <a:ext cx="4390800" cy="9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58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A walkthrough of all the Superorder products on the Superorder dashboard.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13935075" y="5617369"/>
            <a:ext cx="1781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36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600"/>
              <a:buFont typeface="Inter"/>
              <a:buNone/>
            </a:pPr>
            <a:r>
              <a:rPr b="1" i="0" lang="en-US" sz="16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12"/>
              </a:rPr>
              <a:t>Dashboard Guide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1781175" y="7639050"/>
            <a:ext cx="7448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583"/>
              </a:lnSpc>
              <a:spcBef>
                <a:spcPts val="0"/>
              </a:spcBef>
              <a:spcAft>
                <a:spcPts val="0"/>
              </a:spcAft>
              <a:buClr>
                <a:srgbClr val="07241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07241F"/>
                </a:solidFill>
                <a:latin typeface="Inter"/>
                <a:ea typeface="Inter"/>
                <a:cs typeface="Inter"/>
                <a:sym typeface="Inter"/>
              </a:rPr>
              <a:t>For general inquiries - please reach out to Support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13996988" y="7672388"/>
            <a:ext cx="2305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36"/>
              </a:lnSpc>
              <a:spcBef>
                <a:spcPts val="0"/>
              </a:spcBef>
              <a:spcAft>
                <a:spcPts val="0"/>
              </a:spcAft>
              <a:buClr>
                <a:srgbClr val="1E252B"/>
              </a:buClr>
              <a:buSzPts val="1600"/>
              <a:buFont typeface="Inter"/>
              <a:buNone/>
            </a:pPr>
            <a:r>
              <a:rPr b="1" i="0" lang="en-US" sz="16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13"/>
              </a:rPr>
              <a:t>help@superorder.com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13745775" y="9734550"/>
            <a:ext cx="30561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PROPRIETARY AND CONFIDENTIAL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15"/>
          <p:cNvSpPr txBox="1"/>
          <p:nvPr/>
        </p:nvSpPr>
        <p:spPr>
          <a:xfrm>
            <a:off x="17261398" y="9699300"/>
            <a:ext cx="26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3" name="Google Shape;3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4" name="Google Shape;36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0625" y="3548288"/>
            <a:ext cx="7026525" cy="16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